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imes New Roman MT Bold" charset="1" panose="02030802070405020303"/>
      <p:regular r:id="rId24"/>
    </p:embeddedFont>
    <p:embeddedFont>
      <p:font typeface="Times New Roman Bold" charset="1" panose="02020803070505020304"/>
      <p:regular r:id="rId25"/>
    </p:embeddedFont>
    <p:embeddedFont>
      <p:font typeface="Times New Roman" charset="1" panose="02020603050405020304"/>
      <p:regular r:id="rId26"/>
    </p:embeddedFont>
    <p:embeddedFont>
      <p:font typeface="Times New Roman MT" charset="1" panose="02030502070405020303"/>
      <p:regular r:id="rId27"/>
    </p:embeddedFont>
    <p:embeddedFont>
      <p:font typeface="Open Sans" charset="1" panose="020B06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9699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9527" y="5375613"/>
            <a:ext cx="15868946" cy="288711"/>
            <a:chOff x="0" y="0"/>
            <a:chExt cx="21158595" cy="38494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579298" cy="384948"/>
              <a:chOff x="0" y="0"/>
              <a:chExt cx="2089738" cy="7603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89738" cy="76039"/>
              </a:xfrm>
              <a:custGeom>
                <a:avLst/>
                <a:gdLst/>
                <a:ahLst/>
                <a:cxnLst/>
                <a:rect r="r" b="b" t="t" l="l"/>
                <a:pathLst>
                  <a:path h="76039" w="2089738">
                    <a:moveTo>
                      <a:pt x="0" y="0"/>
                    </a:moveTo>
                    <a:lnTo>
                      <a:pt x="2089738" y="0"/>
                    </a:lnTo>
                    <a:lnTo>
                      <a:pt x="2089738" y="76039"/>
                    </a:lnTo>
                    <a:lnTo>
                      <a:pt x="0" y="76039"/>
                    </a:lnTo>
                    <a:close/>
                  </a:path>
                </a:pathLst>
              </a:custGeom>
              <a:solidFill>
                <a:srgbClr val="04375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089738" cy="1141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0579298" y="0"/>
              <a:ext cx="10579298" cy="384948"/>
              <a:chOff x="0" y="0"/>
              <a:chExt cx="2089738" cy="7603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89738" cy="76039"/>
              </a:xfrm>
              <a:custGeom>
                <a:avLst/>
                <a:gdLst/>
                <a:ahLst/>
                <a:cxnLst/>
                <a:rect r="r" b="b" t="t" l="l"/>
                <a:pathLst>
                  <a:path h="76039" w="2089738">
                    <a:moveTo>
                      <a:pt x="0" y="0"/>
                    </a:moveTo>
                    <a:lnTo>
                      <a:pt x="2089738" y="0"/>
                    </a:lnTo>
                    <a:lnTo>
                      <a:pt x="2089738" y="76039"/>
                    </a:lnTo>
                    <a:lnTo>
                      <a:pt x="0" y="76039"/>
                    </a:ln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089738" cy="1141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1475408" y="1729482"/>
            <a:ext cx="15337185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D3D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Rekomendasi Genre sebagai </a:t>
            </a:r>
            <a:r>
              <a:rPr lang="en-US" b="true" sz="5600">
                <a:solidFill>
                  <a:srgbClr val="0D3D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Landasan Personalisasi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1610" y="3095705"/>
            <a:ext cx="14444780" cy="187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0"/>
              </a:lnSpc>
              <a:spcBef>
                <a:spcPct val="0"/>
              </a:spcBef>
            </a:pPr>
            <a:r>
              <a:rPr lang="en-US" b="true" sz="5114">
                <a:solidFill>
                  <a:srgbClr val="F0810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Memba</a:t>
            </a:r>
            <a:r>
              <a:rPr lang="en-US" b="true" sz="5114">
                <a:solidFill>
                  <a:srgbClr val="F0810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ngun Pipeline Rekomendasi Film Adaptif dengan Model BERT–Cosine Similarity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21698" y="6203408"/>
            <a:ext cx="4444603" cy="89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0"/>
              </a:lnSpc>
              <a:spcBef>
                <a:spcPct val="0"/>
              </a:spcBef>
            </a:pPr>
            <a:r>
              <a:rPr lang="en-US" b="true" sz="5114">
                <a:solidFill>
                  <a:srgbClr val="F081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 Heisenberg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30603" y="7502241"/>
            <a:ext cx="4535699" cy="1517452"/>
            <a:chOff x="0" y="0"/>
            <a:chExt cx="6047598" cy="202326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955611" y="-85725"/>
              <a:ext cx="2136377" cy="760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74"/>
                </a:lnSpc>
                <a:spcBef>
                  <a:spcPct val="0"/>
                </a:spcBef>
              </a:pPr>
              <a:r>
                <a:rPr lang="en-US" sz="333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Musliadi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88745"/>
              <a:ext cx="6047598" cy="760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74"/>
                </a:lnSpc>
                <a:spcBef>
                  <a:spcPct val="0"/>
                </a:spcBef>
              </a:pPr>
              <a:r>
                <a:rPr lang="en-US" sz="333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Muhammad Zulkarnaini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283403" y="1263215"/>
              <a:ext cx="1602254" cy="760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74"/>
                </a:lnSpc>
                <a:spcBef>
                  <a:spcPct val="0"/>
                </a:spcBef>
              </a:pPr>
              <a:r>
                <a:rPr lang="en-US" sz="333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Nabila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150497"/>
            <a:ext cx="3776114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Pembaasaan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50980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150497"/>
            <a:ext cx="3825165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1/16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001625" y="7553406"/>
            <a:ext cx="14284749" cy="1543050"/>
            <a:chOff x="0" y="0"/>
            <a:chExt cx="3762239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62239" cy="406400"/>
            </a:xfrm>
            <a:custGeom>
              <a:avLst/>
              <a:gdLst/>
              <a:ahLst/>
              <a:cxnLst/>
              <a:rect r="r" b="b" t="t" l="l"/>
              <a:pathLst>
                <a:path h="406400" w="3762239">
                  <a:moveTo>
                    <a:pt x="27641" y="0"/>
                  </a:moveTo>
                  <a:lnTo>
                    <a:pt x="3734598" y="0"/>
                  </a:lnTo>
                  <a:cubicBezTo>
                    <a:pt x="3749863" y="0"/>
                    <a:pt x="3762239" y="12375"/>
                    <a:pt x="3762239" y="27641"/>
                  </a:cubicBezTo>
                  <a:lnTo>
                    <a:pt x="3762239" y="378759"/>
                  </a:lnTo>
                  <a:cubicBezTo>
                    <a:pt x="3762239" y="386090"/>
                    <a:pt x="3759326" y="393121"/>
                    <a:pt x="3754143" y="398304"/>
                  </a:cubicBezTo>
                  <a:cubicBezTo>
                    <a:pt x="3748959" y="403488"/>
                    <a:pt x="3741929" y="406400"/>
                    <a:pt x="3734598" y="406400"/>
                  </a:cubicBezTo>
                  <a:lnTo>
                    <a:pt x="27641" y="406400"/>
                  </a:lnTo>
                  <a:cubicBezTo>
                    <a:pt x="12375" y="406400"/>
                    <a:pt x="0" y="394025"/>
                    <a:pt x="0" y="378759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76223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001625" y="7705806"/>
            <a:ext cx="1428474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era digital, 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ledakan konten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dan tuntutan personalisasi menjadikan 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pengelolaan metadata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dan 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sistem rekomendasi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sebagai kebutuhan operasional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86745" y="1715761"/>
            <a:ext cx="15314510" cy="5521434"/>
            <a:chOff x="0" y="0"/>
            <a:chExt cx="20419347" cy="73619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061868" y="1865327"/>
              <a:ext cx="5331687" cy="5496585"/>
            </a:xfrm>
            <a:custGeom>
              <a:avLst/>
              <a:gdLst/>
              <a:ahLst/>
              <a:cxnLst/>
              <a:rect r="r" b="b" t="t" l="l"/>
              <a:pathLst>
                <a:path h="5496585" w="5331687">
                  <a:moveTo>
                    <a:pt x="0" y="0"/>
                  </a:moveTo>
                  <a:lnTo>
                    <a:pt x="5331687" y="0"/>
                  </a:lnTo>
                  <a:lnTo>
                    <a:pt x="5331687" y="5496585"/>
                  </a:lnTo>
                  <a:lnTo>
                    <a:pt x="0" y="5496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629525" y="1865327"/>
              <a:ext cx="69850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0" y="-123825"/>
              <a:ext cx="20419347" cy="151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Pada awal </a:t>
              </a:r>
              <a:r>
                <a:rPr lang="en-US" sz="3200">
                  <a:solidFill>
                    <a:srgbClr val="F0810C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abad ke-20</a:t>
              </a: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indsutri film berkembang menjadi sebuah </a:t>
              </a:r>
              <a:r>
                <a:rPr lang="en-US" sz="3200">
                  <a:solidFill>
                    <a:srgbClr val="F0810C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industri besar </a:t>
              </a: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dengan peran </a:t>
              </a:r>
              <a:r>
                <a:rPr lang="en-US" sz="3200">
                  <a:solidFill>
                    <a:srgbClr val="F0810C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budaya dan ekonomi </a:t>
              </a:r>
              <a:r>
                <a:rPr lang="en-US" sz="32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yang signifikan (Kornhaber, 2019)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Latar Belakang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36780" y="2958442"/>
            <a:ext cx="2448364" cy="2448364"/>
            <a:chOff x="0" y="0"/>
            <a:chExt cx="3264486" cy="326448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264486" cy="326448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302" lIns="40302" bIns="40302" rIns="4030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873330" y="725609"/>
              <a:ext cx="1820094" cy="1813269"/>
            </a:xfrm>
            <a:custGeom>
              <a:avLst/>
              <a:gdLst/>
              <a:ahLst/>
              <a:cxnLst/>
              <a:rect r="r" b="b" t="t" l="l"/>
              <a:pathLst>
                <a:path h="1813269" w="1820094">
                  <a:moveTo>
                    <a:pt x="0" y="0"/>
                  </a:moveTo>
                  <a:lnTo>
                    <a:pt x="1820093" y="0"/>
                  </a:lnTo>
                  <a:lnTo>
                    <a:pt x="1820093" y="1813268"/>
                  </a:lnTo>
                  <a:lnTo>
                    <a:pt x="0" y="1813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770006" y="2958442"/>
            <a:ext cx="2448364" cy="2448364"/>
            <a:chOff x="0" y="0"/>
            <a:chExt cx="3264486" cy="326448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264486" cy="326448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302" lIns="40302" bIns="40302" rIns="4030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632193" y="600037"/>
              <a:ext cx="2000100" cy="1985099"/>
            </a:xfrm>
            <a:custGeom>
              <a:avLst/>
              <a:gdLst/>
              <a:ahLst/>
              <a:cxnLst/>
              <a:rect r="r" b="b" t="t" l="l"/>
              <a:pathLst>
                <a:path h="1985099" w="2000100">
                  <a:moveTo>
                    <a:pt x="0" y="0"/>
                  </a:moveTo>
                  <a:lnTo>
                    <a:pt x="2000100" y="0"/>
                  </a:lnTo>
                  <a:lnTo>
                    <a:pt x="2000100" y="1985099"/>
                  </a:lnTo>
                  <a:lnTo>
                    <a:pt x="0" y="1985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30" id="30"/>
          <p:cNvSpPr/>
          <p:nvPr/>
        </p:nvSpPr>
        <p:spPr>
          <a:xfrm flipV="true">
            <a:off x="14242717" y="3690177"/>
            <a:ext cx="425402" cy="0"/>
          </a:xfrm>
          <a:prstGeom prst="line">
            <a:avLst/>
          </a:prstGeom>
          <a:ln cap="flat" w="9525">
            <a:solidFill>
              <a:srgbClr val="F0810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3602856" y="2958442"/>
            <a:ext cx="2448364" cy="2448364"/>
            <a:chOff x="0" y="0"/>
            <a:chExt cx="3264486" cy="326448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3264486" cy="326448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302" lIns="40302" bIns="40302" rIns="4030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123606" y="1399196"/>
              <a:ext cx="941678" cy="1413400"/>
            </a:xfrm>
            <a:custGeom>
              <a:avLst/>
              <a:gdLst/>
              <a:ahLst/>
              <a:cxnLst/>
              <a:rect r="r" b="b" t="t" l="l"/>
              <a:pathLst>
                <a:path h="1413400" w="941678">
                  <a:moveTo>
                    <a:pt x="0" y="0"/>
                  </a:moveTo>
                  <a:lnTo>
                    <a:pt x="941678" y="0"/>
                  </a:lnTo>
                  <a:lnTo>
                    <a:pt x="941678" y="1413400"/>
                  </a:lnTo>
                  <a:lnTo>
                    <a:pt x="0" y="141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62161" y="770872"/>
              <a:ext cx="922890" cy="821714"/>
            </a:xfrm>
            <a:custGeom>
              <a:avLst/>
              <a:gdLst/>
              <a:ahLst/>
              <a:cxnLst/>
              <a:rect r="r" b="b" t="t" l="l"/>
              <a:pathLst>
                <a:path h="821714" w="922890">
                  <a:moveTo>
                    <a:pt x="0" y="0"/>
                  </a:moveTo>
                  <a:lnTo>
                    <a:pt x="922890" y="0"/>
                  </a:lnTo>
                  <a:lnTo>
                    <a:pt x="922890" y="821714"/>
                  </a:lnTo>
                  <a:lnTo>
                    <a:pt x="0" y="82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37" id="37"/>
            <p:cNvSpPr/>
            <p:nvPr/>
          </p:nvSpPr>
          <p:spPr>
            <a:xfrm flipV="true">
              <a:off x="853149" y="1175157"/>
              <a:ext cx="567202" cy="0"/>
            </a:xfrm>
            <a:prstGeom prst="line">
              <a:avLst/>
            </a:prstGeom>
            <a:ln cap="flat" w="12700">
              <a:solidFill>
                <a:srgbClr val="F0810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8" id="38"/>
            <p:cNvSpPr/>
            <p:nvPr/>
          </p:nvSpPr>
          <p:spPr>
            <a:xfrm flipH="true" flipV="false" rot="0">
              <a:off x="1535903" y="187876"/>
              <a:ext cx="1329236" cy="1072167"/>
            </a:xfrm>
            <a:custGeom>
              <a:avLst/>
              <a:gdLst/>
              <a:ahLst/>
              <a:cxnLst/>
              <a:rect r="r" b="b" t="t" l="l"/>
              <a:pathLst>
                <a:path h="1072167" w="1329236">
                  <a:moveTo>
                    <a:pt x="1329236" y="0"/>
                  </a:moveTo>
                  <a:lnTo>
                    <a:pt x="0" y="0"/>
                  </a:lnTo>
                  <a:lnTo>
                    <a:pt x="0" y="1072166"/>
                  </a:lnTo>
                  <a:lnTo>
                    <a:pt x="1329236" y="1072166"/>
                  </a:lnTo>
                  <a:lnTo>
                    <a:pt x="1329236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2/16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2723" y="1420843"/>
            <a:ext cx="3404270" cy="6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Tujuan Peneletian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Tujuan Penelitian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74999" y="5517301"/>
            <a:ext cx="4571927" cy="1883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  <a:spcBef>
                <a:spcPct val="0"/>
              </a:spcBef>
            </a:pPr>
            <a:r>
              <a:rPr lang="en-US" sz="347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Mengidentifikasi </a:t>
            </a:r>
            <a:r>
              <a:rPr lang="en-US" b="true" sz="347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karakteristik popularitas </a:t>
            </a:r>
            <a:r>
              <a:rPr lang="en-US" sz="347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film dalam skala besar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94161" y="5538174"/>
            <a:ext cx="3911482" cy="1883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  <a:spcBef>
                <a:spcPct val="0"/>
              </a:spcBef>
            </a:pPr>
            <a:r>
              <a:rPr lang="en-US" sz="347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Merancang </a:t>
            </a:r>
            <a:r>
              <a:rPr lang="en-US" b="true" sz="347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pipeline </a:t>
            </a:r>
            <a:r>
              <a:rPr lang="en-US" sz="347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machine learning </a:t>
            </a:r>
            <a:r>
              <a:rPr lang="en-US" b="true" sz="347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end-to-end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71297" y="5517301"/>
            <a:ext cx="3911482" cy="1883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  <a:spcBef>
                <a:spcPct val="0"/>
              </a:spcBef>
            </a:pPr>
            <a:r>
              <a:rPr lang="en-US" sz="347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Dapat </a:t>
            </a:r>
            <a:r>
              <a:rPr lang="en-US" b="true" sz="347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dimanfaatkan </a:t>
            </a:r>
            <a:r>
              <a:rPr lang="en-US" sz="347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oleh </a:t>
            </a:r>
            <a:r>
              <a:rPr lang="en-US" b="true" sz="347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konsumen </a:t>
            </a:r>
            <a:r>
              <a:rPr lang="en-US" sz="347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dan </a:t>
            </a:r>
            <a:r>
              <a:rPr lang="en-US" b="true" sz="347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platform perfilman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44000" y="150497"/>
            <a:ext cx="3825165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137795" y="1028700"/>
            <a:ext cx="11736399" cy="8391525"/>
          </a:xfrm>
          <a:custGeom>
            <a:avLst/>
            <a:gdLst/>
            <a:ahLst/>
            <a:cxnLst/>
            <a:rect r="r" b="b" t="t" l="l"/>
            <a:pathLst>
              <a:path h="8391525" w="11736399">
                <a:moveTo>
                  <a:pt x="0" y="0"/>
                </a:moveTo>
                <a:lnTo>
                  <a:pt x="11736398" y="0"/>
                </a:lnTo>
                <a:lnTo>
                  <a:pt x="11736398" y="8391525"/>
                </a:lnTo>
                <a:lnTo>
                  <a:pt x="0" y="8391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3/16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2723" y="1420843"/>
            <a:ext cx="3404270" cy="6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Alur Penelitian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Alur Penelitian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150497"/>
            <a:ext cx="3825165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5271" y="1453950"/>
            <a:ext cx="5381021" cy="636994"/>
            <a:chOff x="0" y="0"/>
            <a:chExt cx="7174694" cy="84932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45127" cy="849325"/>
              <a:chOff x="0" y="0"/>
              <a:chExt cx="28667" cy="16776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8667" cy="167768"/>
              </a:xfrm>
              <a:custGeom>
                <a:avLst/>
                <a:gdLst/>
                <a:ahLst/>
                <a:cxnLst/>
                <a:rect r="r" b="b" t="t" l="l"/>
                <a:pathLst>
                  <a:path h="167768" w="28667">
                    <a:moveTo>
                      <a:pt x="0" y="0"/>
                    </a:moveTo>
                    <a:lnTo>
                      <a:pt x="28667" y="0"/>
                    </a:lnTo>
                    <a:lnTo>
                      <a:pt x="28667" y="167768"/>
                    </a:lnTo>
                    <a:lnTo>
                      <a:pt x="0" y="167768"/>
                    </a:ln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8667" cy="205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03270" y="3482"/>
              <a:ext cx="6871424" cy="845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53"/>
                </a:lnSpc>
                <a:spcBef>
                  <a:spcPct val="0"/>
                </a:spcBef>
              </a:pPr>
              <a:r>
                <a:rPr lang="en-US" b="true" sz="3466">
                  <a:solidFill>
                    <a:srgbClr val="04375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Karakteristik Dataset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55665" y="3616076"/>
            <a:ext cx="8202700" cy="5379135"/>
            <a:chOff x="0" y="0"/>
            <a:chExt cx="2160382" cy="14167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60382" cy="1416727"/>
            </a:xfrm>
            <a:custGeom>
              <a:avLst/>
              <a:gdLst/>
              <a:ahLst/>
              <a:cxnLst/>
              <a:rect r="r" b="b" t="t" l="l"/>
              <a:pathLst>
                <a:path h="1416727" w="2160382">
                  <a:moveTo>
                    <a:pt x="0" y="0"/>
                  </a:moveTo>
                  <a:lnTo>
                    <a:pt x="2160382" y="0"/>
                  </a:lnTo>
                  <a:lnTo>
                    <a:pt x="2160382" y="1416727"/>
                  </a:lnTo>
                  <a:lnTo>
                    <a:pt x="0" y="1416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A0147"/>
              </a:solidFill>
              <a:prstDash val="lg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60382" cy="1454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506015" y="3616076"/>
            <a:ext cx="3816252" cy="5379135"/>
            <a:chOff x="0" y="0"/>
            <a:chExt cx="1005103" cy="14167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103" cy="1416727"/>
            </a:xfrm>
            <a:custGeom>
              <a:avLst/>
              <a:gdLst/>
              <a:ahLst/>
              <a:cxnLst/>
              <a:rect r="r" b="b" t="t" l="l"/>
              <a:pathLst>
                <a:path h="1416727" w="1005103">
                  <a:moveTo>
                    <a:pt x="0" y="0"/>
                  </a:moveTo>
                  <a:lnTo>
                    <a:pt x="1005103" y="0"/>
                  </a:lnTo>
                  <a:lnTo>
                    <a:pt x="1005103" y="1416727"/>
                  </a:lnTo>
                  <a:lnTo>
                    <a:pt x="0" y="1416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A0147"/>
              </a:solidFill>
              <a:prstDash val="lg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05103" cy="1454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112815" y="3654176"/>
            <a:ext cx="7964284" cy="5303241"/>
          </a:xfrm>
          <a:custGeom>
            <a:avLst/>
            <a:gdLst/>
            <a:ahLst/>
            <a:cxnLst/>
            <a:rect r="r" b="b" t="t" l="l"/>
            <a:pathLst>
              <a:path h="5303241" w="7964284">
                <a:moveTo>
                  <a:pt x="0" y="0"/>
                </a:moveTo>
                <a:lnTo>
                  <a:pt x="7964284" y="0"/>
                </a:lnTo>
                <a:lnTo>
                  <a:pt x="7964284" y="5303241"/>
                </a:lnTo>
                <a:lnTo>
                  <a:pt x="0" y="5303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-5400000">
            <a:off x="2149198" y="6117882"/>
            <a:ext cx="4872069" cy="439959"/>
            <a:chOff x="0" y="0"/>
            <a:chExt cx="1283179" cy="1158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3179" cy="115874"/>
            </a:xfrm>
            <a:custGeom>
              <a:avLst/>
              <a:gdLst/>
              <a:ahLst/>
              <a:cxnLst/>
              <a:rect r="r" b="b" t="t" l="l"/>
              <a:pathLst>
                <a:path h="115874" w="1283179">
                  <a:moveTo>
                    <a:pt x="203200" y="115874"/>
                  </a:moveTo>
                  <a:lnTo>
                    <a:pt x="1079979" y="115874"/>
                  </a:lnTo>
                  <a:lnTo>
                    <a:pt x="1283179" y="0"/>
                  </a:lnTo>
                  <a:lnTo>
                    <a:pt x="0" y="0"/>
                  </a:lnTo>
                  <a:lnTo>
                    <a:pt x="203200" y="115874"/>
                  </a:lnTo>
                  <a:close/>
                </a:path>
              </a:pathLst>
            </a:custGeom>
            <a:solidFill>
              <a:srgbClr val="F0810C"/>
            </a:solidFill>
            <a:ln w="28575" cap="sq">
              <a:solidFill>
                <a:srgbClr val="0A014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-38100"/>
              <a:ext cx="1029179" cy="153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4/16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Deskripsi Dataset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0105" y="2234385"/>
            <a:ext cx="1428474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awal berukuran 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12.999 baris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data berisi informasi film yang mencakup judul, genre, deskripsi, hingga detail lain.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65978" y="3654176"/>
            <a:ext cx="3007717" cy="610918"/>
            <a:chOff x="0" y="0"/>
            <a:chExt cx="792156" cy="1609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92156" cy="160900"/>
            </a:xfrm>
            <a:custGeom>
              <a:avLst/>
              <a:gdLst/>
              <a:ahLst/>
              <a:cxnLst/>
              <a:rect r="r" b="b" t="t" l="l"/>
              <a:pathLst>
                <a:path h="160900" w="792156">
                  <a:moveTo>
                    <a:pt x="0" y="0"/>
                  </a:moveTo>
                  <a:lnTo>
                    <a:pt x="792156" y="0"/>
                  </a:lnTo>
                  <a:lnTo>
                    <a:pt x="792156" y="160900"/>
                  </a:lnTo>
                  <a:lnTo>
                    <a:pt x="0" y="160900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92156" cy="19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91998" y="3636444"/>
            <a:ext cx="215950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Kendala Data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3925" y="3616076"/>
            <a:ext cx="3190875" cy="5379135"/>
            <a:chOff x="0" y="0"/>
            <a:chExt cx="4254500" cy="717218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139700" y="0"/>
              <a:ext cx="4114800" cy="2641404"/>
              <a:chOff x="0" y="0"/>
              <a:chExt cx="812800" cy="52175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521759"/>
              </a:xfrm>
              <a:custGeom>
                <a:avLst/>
                <a:gdLst/>
                <a:ahLst/>
                <a:cxnLst/>
                <a:rect r="r" b="b" t="t" l="l"/>
                <a:pathLst>
                  <a:path h="52175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521759"/>
                    </a:lnTo>
                    <a:lnTo>
                      <a:pt x="0" y="52175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A0147"/>
                </a:solidFill>
                <a:prstDash val="dash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812800" cy="559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410209" indent="-205105" lvl="1">
                  <a:lnSpc>
                    <a:spcPts val="2659"/>
                  </a:lnSpc>
                  <a:buFont typeface="Arial"/>
                  <a:buChar char="•"/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39700" y="2977567"/>
              <a:ext cx="4114800" cy="4194613"/>
              <a:chOff x="0" y="0"/>
              <a:chExt cx="812800" cy="828566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28566"/>
              </a:xfrm>
              <a:custGeom>
                <a:avLst/>
                <a:gdLst/>
                <a:ahLst/>
                <a:cxnLst/>
                <a:rect r="r" b="b" t="t" l="l"/>
                <a:pathLst>
                  <a:path h="828566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28566"/>
                    </a:lnTo>
                    <a:lnTo>
                      <a:pt x="0" y="82856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A0147"/>
                </a:solidFill>
                <a:prstDash val="lgDash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812800" cy="8666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2275184" y="4059736"/>
              <a:ext cx="1741754" cy="2260796"/>
            </a:xfrm>
            <a:custGeom>
              <a:avLst/>
              <a:gdLst/>
              <a:ahLst/>
              <a:cxnLst/>
              <a:rect r="r" b="b" t="t" l="l"/>
              <a:pathLst>
                <a:path h="2260796" w="1741754">
                  <a:moveTo>
                    <a:pt x="0" y="0"/>
                  </a:moveTo>
                  <a:lnTo>
                    <a:pt x="1741753" y="0"/>
                  </a:lnTo>
                  <a:lnTo>
                    <a:pt x="1741753" y="2260796"/>
                  </a:lnTo>
                  <a:lnTo>
                    <a:pt x="0" y="2260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0" y="961442"/>
              <a:ext cx="4118537" cy="1444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A0147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Duplikat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A0147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Missing Value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189404" y="3022404"/>
              <a:ext cx="4010289" cy="814557"/>
              <a:chOff x="0" y="0"/>
              <a:chExt cx="792156" cy="1609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792156" cy="160900"/>
              </a:xfrm>
              <a:custGeom>
                <a:avLst/>
                <a:gdLst/>
                <a:ahLst/>
                <a:cxnLst/>
                <a:rect r="r" b="b" t="t" l="l"/>
                <a:pathLst>
                  <a:path h="160900" w="792156">
                    <a:moveTo>
                      <a:pt x="0" y="0"/>
                    </a:moveTo>
                    <a:lnTo>
                      <a:pt x="792156" y="0"/>
                    </a:lnTo>
                    <a:lnTo>
                      <a:pt x="792156" y="160900"/>
                    </a:lnTo>
                    <a:lnTo>
                      <a:pt x="0" y="160900"/>
                    </a:ln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792156" cy="19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757431" y="3025579"/>
              <a:ext cx="2879337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Split Data</a:t>
              </a:r>
            </a:p>
          </p:txBody>
        </p:sp>
        <p:sp>
          <p:nvSpPr>
            <p:cNvPr name="Freeform 53" id="53"/>
            <p:cNvSpPr/>
            <p:nvPr/>
          </p:nvSpPr>
          <p:spPr>
            <a:xfrm flipH="false" flipV="false" rot="0">
              <a:off x="317515" y="4059736"/>
              <a:ext cx="1741754" cy="2260796"/>
            </a:xfrm>
            <a:custGeom>
              <a:avLst/>
              <a:gdLst/>
              <a:ahLst/>
              <a:cxnLst/>
              <a:rect r="r" b="b" t="t" l="l"/>
              <a:pathLst>
                <a:path h="2260796" w="1741754">
                  <a:moveTo>
                    <a:pt x="0" y="0"/>
                  </a:moveTo>
                  <a:lnTo>
                    <a:pt x="1741754" y="0"/>
                  </a:lnTo>
                  <a:lnTo>
                    <a:pt x="1741754" y="2260796"/>
                  </a:lnTo>
                  <a:lnTo>
                    <a:pt x="0" y="2260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633972" y="6336407"/>
              <a:ext cx="1312039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Train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2699497" y="6349107"/>
              <a:ext cx="893127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Test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44115" y="3645310"/>
            <a:ext cx="3745201" cy="610918"/>
            <a:chOff x="0" y="0"/>
            <a:chExt cx="986390" cy="1609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86390" cy="160900"/>
            </a:xfrm>
            <a:custGeom>
              <a:avLst/>
              <a:gdLst/>
              <a:ahLst/>
              <a:cxnLst/>
              <a:rect r="r" b="b" t="t" l="l"/>
              <a:pathLst>
                <a:path h="160900" w="986390">
                  <a:moveTo>
                    <a:pt x="0" y="0"/>
                  </a:moveTo>
                  <a:lnTo>
                    <a:pt x="986390" y="0"/>
                  </a:lnTo>
                  <a:lnTo>
                    <a:pt x="986390" y="160900"/>
                  </a:lnTo>
                  <a:lnTo>
                    <a:pt x="0" y="160900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86390" cy="19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4004505" y="3645310"/>
            <a:ext cx="282441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Persentase Genre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63165" y="4175001"/>
            <a:ext cx="3598218" cy="484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Drama (17,5%)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Comedy (14,3%)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Thriller (10,3%)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Action (8,6%)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Romance (6,5%)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Advanture (6,1%)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Crime (5,5%)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Horror (5,4%)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Lainya (&lt;5%)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144000" y="150497"/>
            <a:ext cx="3825165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04271" y="3986985"/>
            <a:ext cx="9192745" cy="4938177"/>
          </a:xfrm>
          <a:custGeom>
            <a:avLst/>
            <a:gdLst/>
            <a:ahLst/>
            <a:cxnLst/>
            <a:rect r="r" b="b" t="t" l="l"/>
            <a:pathLst>
              <a:path h="4938177" w="9192745">
                <a:moveTo>
                  <a:pt x="0" y="0"/>
                </a:moveTo>
                <a:lnTo>
                  <a:pt x="9192745" y="0"/>
                </a:lnTo>
                <a:lnTo>
                  <a:pt x="9192745" y="4938177"/>
                </a:lnTo>
                <a:lnTo>
                  <a:pt x="0" y="4938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07741" y="4317115"/>
            <a:ext cx="7199862" cy="4277918"/>
          </a:xfrm>
          <a:custGeom>
            <a:avLst/>
            <a:gdLst/>
            <a:ahLst/>
            <a:cxnLst/>
            <a:rect r="r" b="b" t="t" l="l"/>
            <a:pathLst>
              <a:path h="4277918" w="7199862">
                <a:moveTo>
                  <a:pt x="0" y="0"/>
                </a:moveTo>
                <a:lnTo>
                  <a:pt x="7199861" y="0"/>
                </a:lnTo>
                <a:lnTo>
                  <a:pt x="7199861" y="4277918"/>
                </a:lnTo>
                <a:lnTo>
                  <a:pt x="0" y="4277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5/16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2723" y="1420843"/>
            <a:ext cx="5153568" cy="6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Karakteristik Dataset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Deskripsi Dataset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0105" y="2234385"/>
            <a:ext cx="15180464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ini mencakup film dari 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berbagai bahasa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dengan proporsi terbesar berasal dari bahasa Inggris, bahasa Prancis, Italia, dan sejumlah bahasa lain dalam jumlah yang lebih kecil.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0" y="150497"/>
            <a:ext cx="3825165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41796" y="3314920"/>
            <a:ext cx="9324751" cy="4952780"/>
          </a:xfrm>
          <a:custGeom>
            <a:avLst/>
            <a:gdLst/>
            <a:ahLst/>
            <a:cxnLst/>
            <a:rect r="r" b="b" t="t" l="l"/>
            <a:pathLst>
              <a:path h="4952780" w="9324751">
                <a:moveTo>
                  <a:pt x="0" y="0"/>
                </a:moveTo>
                <a:lnTo>
                  <a:pt x="9324751" y="0"/>
                </a:lnTo>
                <a:lnTo>
                  <a:pt x="9324751" y="4952780"/>
                </a:lnTo>
                <a:lnTo>
                  <a:pt x="0" y="495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37" r="0" b="-420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449917" y="3434998"/>
            <a:ext cx="6983079" cy="4922675"/>
          </a:xfrm>
          <a:custGeom>
            <a:avLst/>
            <a:gdLst/>
            <a:ahLst/>
            <a:cxnLst/>
            <a:rect r="r" b="b" t="t" l="l"/>
            <a:pathLst>
              <a:path h="4922675" w="6983079">
                <a:moveTo>
                  <a:pt x="0" y="0"/>
                </a:moveTo>
                <a:lnTo>
                  <a:pt x="6983079" y="0"/>
                </a:lnTo>
                <a:lnTo>
                  <a:pt x="6983079" y="4922674"/>
                </a:lnTo>
                <a:lnTo>
                  <a:pt x="0" y="49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18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2723" y="1420843"/>
            <a:ext cx="5956589" cy="6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Eksplorasi dan Visualisasi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Eksplorasi dan Visualisasi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80129" y="2291998"/>
            <a:ext cx="647917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Popularitas Film 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English vs Non-English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64586" y="2406298"/>
            <a:ext cx="647917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Distribusi Popularitas Berdasarkan Jumlah Genre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53071" y="8143875"/>
            <a:ext cx="68179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Popularitas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naik seiring jumlah genre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tapi turun setelah enam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87567" y="8143875"/>
            <a:ext cx="68179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Film 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berbahasa Inggris lebih populer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dibandingkan non-Inggris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34475" y="150497"/>
            <a:ext cx="3830986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335140" y="3438614"/>
            <a:ext cx="8322755" cy="4671653"/>
          </a:xfrm>
          <a:custGeom>
            <a:avLst/>
            <a:gdLst/>
            <a:ahLst/>
            <a:cxnLst/>
            <a:rect r="r" b="b" t="t" l="l"/>
            <a:pathLst>
              <a:path h="4671653" w="8322755">
                <a:moveTo>
                  <a:pt x="0" y="0"/>
                </a:moveTo>
                <a:lnTo>
                  <a:pt x="8322755" y="0"/>
                </a:lnTo>
                <a:lnTo>
                  <a:pt x="8322755" y="4671653"/>
                </a:lnTo>
                <a:lnTo>
                  <a:pt x="0" y="4671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01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3717" y="3406423"/>
            <a:ext cx="8550283" cy="4703845"/>
          </a:xfrm>
          <a:custGeom>
            <a:avLst/>
            <a:gdLst/>
            <a:ahLst/>
            <a:cxnLst/>
            <a:rect r="r" b="b" t="t" l="l"/>
            <a:pathLst>
              <a:path h="4703845" w="8550283">
                <a:moveTo>
                  <a:pt x="0" y="0"/>
                </a:moveTo>
                <a:lnTo>
                  <a:pt x="8550283" y="0"/>
                </a:lnTo>
                <a:lnTo>
                  <a:pt x="8550283" y="4703844"/>
                </a:lnTo>
                <a:lnTo>
                  <a:pt x="0" y="4703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76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7/16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Eksplorasi dan Visualisasi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64586" y="2406298"/>
            <a:ext cx="647917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a-rata Popularitas Film Berdasarkan Bulan Rilis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56932" y="2406298"/>
            <a:ext cx="647917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Hubung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Panjang Summary</a:t>
            </a:r>
          </a:p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dengan Popularitas Film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5029" y="8146121"/>
            <a:ext cx="8627659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Film yang dirilis 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pertengahan tahun cenderung paling populer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disusul awal tahun, lalu akhir tahun.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8099" y="8143875"/>
            <a:ext cx="820043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nj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ang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ngka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F0810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tidak menunjukkan hubungan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arti dengan tingkat popularitas film.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271" y="1453950"/>
            <a:ext cx="6184041" cy="636994"/>
            <a:chOff x="0" y="0"/>
            <a:chExt cx="8245388" cy="84932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45127" cy="849325"/>
              <a:chOff x="0" y="0"/>
              <a:chExt cx="28667" cy="16776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8667" cy="167768"/>
              </a:xfrm>
              <a:custGeom>
                <a:avLst/>
                <a:gdLst/>
                <a:ahLst/>
                <a:cxnLst/>
                <a:rect r="r" b="b" t="t" l="l"/>
                <a:pathLst>
                  <a:path h="167768" w="28667">
                    <a:moveTo>
                      <a:pt x="0" y="0"/>
                    </a:moveTo>
                    <a:lnTo>
                      <a:pt x="28667" y="0"/>
                    </a:lnTo>
                    <a:lnTo>
                      <a:pt x="28667" y="167768"/>
                    </a:lnTo>
                    <a:lnTo>
                      <a:pt x="0" y="167768"/>
                    </a:ln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8667" cy="205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03270" y="3482"/>
              <a:ext cx="7942118" cy="845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53"/>
                </a:lnSpc>
                <a:spcBef>
                  <a:spcPct val="0"/>
                </a:spcBef>
              </a:pPr>
              <a:r>
                <a:rPr lang="en-US" b="true" sz="3466">
                  <a:solidFill>
                    <a:srgbClr val="04375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Eksplorasi dan Visualisasi Data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34475" y="150497"/>
            <a:ext cx="3830986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04379" y="1028700"/>
            <a:ext cx="7254921" cy="4308280"/>
            <a:chOff x="0" y="0"/>
            <a:chExt cx="9673228" cy="57443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246322"/>
              <a:ext cx="9673228" cy="4498051"/>
            </a:xfrm>
            <a:custGeom>
              <a:avLst/>
              <a:gdLst/>
              <a:ahLst/>
              <a:cxnLst/>
              <a:rect r="r" b="b" t="t" l="l"/>
              <a:pathLst>
                <a:path h="4498051" w="9673228">
                  <a:moveTo>
                    <a:pt x="0" y="0"/>
                  </a:moveTo>
                  <a:lnTo>
                    <a:pt x="9673228" y="0"/>
                  </a:lnTo>
                  <a:lnTo>
                    <a:pt x="9673228" y="4498051"/>
                  </a:lnTo>
                  <a:lnTo>
                    <a:pt x="0" y="4498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-95250"/>
              <a:ext cx="9342029" cy="899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0810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TF-IDF VECTORIZER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4271" y="1028700"/>
            <a:ext cx="8138896" cy="5081170"/>
            <a:chOff x="0" y="0"/>
            <a:chExt cx="10851861" cy="67748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39894" y="1044324"/>
              <a:ext cx="10372072" cy="5730570"/>
            </a:xfrm>
            <a:custGeom>
              <a:avLst/>
              <a:gdLst/>
              <a:ahLst/>
              <a:cxnLst/>
              <a:rect r="r" b="b" t="t" l="l"/>
              <a:pathLst>
                <a:path h="5730570" w="10372072">
                  <a:moveTo>
                    <a:pt x="0" y="0"/>
                  </a:moveTo>
                  <a:lnTo>
                    <a:pt x="10372073" y="0"/>
                  </a:lnTo>
                  <a:lnTo>
                    <a:pt x="10372073" y="5730570"/>
                  </a:lnTo>
                  <a:lnTo>
                    <a:pt x="0" y="5730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-95250"/>
              <a:ext cx="10851861" cy="899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0810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SUPPORT VECTOR CLASSIFIER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0" y="5820486"/>
            <a:ext cx="18288000" cy="0"/>
          </a:xfrm>
          <a:prstGeom prst="line">
            <a:avLst/>
          </a:prstGeom>
          <a:ln cap="flat" w="19050">
            <a:solidFill>
              <a:srgbClr val="000000">
                <a:alpha val="6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8869009" y="924251"/>
            <a:ext cx="0" cy="8334049"/>
          </a:xfrm>
          <a:prstGeom prst="line">
            <a:avLst/>
          </a:prstGeom>
          <a:ln cap="flat" w="19050">
            <a:solidFill>
              <a:srgbClr val="000000">
                <a:alpha val="69804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604271" y="6532145"/>
            <a:ext cx="7790932" cy="2777543"/>
          </a:xfrm>
          <a:custGeom>
            <a:avLst/>
            <a:gdLst/>
            <a:ahLst/>
            <a:cxnLst/>
            <a:rect r="r" b="b" t="t" l="l"/>
            <a:pathLst>
              <a:path h="2777543" w="7790932">
                <a:moveTo>
                  <a:pt x="0" y="0"/>
                </a:moveTo>
                <a:lnTo>
                  <a:pt x="7790932" y="0"/>
                </a:lnTo>
                <a:lnTo>
                  <a:pt x="7790932" y="2777543"/>
                </a:lnTo>
                <a:lnTo>
                  <a:pt x="0" y="2777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36" r="0" b="-113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31946" y="6532145"/>
            <a:ext cx="5182845" cy="2732113"/>
          </a:xfrm>
          <a:custGeom>
            <a:avLst/>
            <a:gdLst/>
            <a:ahLst/>
            <a:cxnLst/>
            <a:rect r="r" b="b" t="t" l="l"/>
            <a:pathLst>
              <a:path h="2732113" w="5182845">
                <a:moveTo>
                  <a:pt x="0" y="0"/>
                </a:moveTo>
                <a:lnTo>
                  <a:pt x="5182844" y="0"/>
                </a:lnTo>
                <a:lnTo>
                  <a:pt x="5182844" y="2732113"/>
                </a:lnTo>
                <a:lnTo>
                  <a:pt x="0" y="27321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8/16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69312" y="9543787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Eksperimen Baseline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34475" y="150497"/>
            <a:ext cx="3830986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8062" y="5786020"/>
            <a:ext cx="700652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081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ENGINEERING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28579" y="5786020"/>
            <a:ext cx="7529316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081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HYPERPARAMETER TUNING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517457"/>
            <a:ext cx="79719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9312" y="9543787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Prediksi Genre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2723" y="1420843"/>
            <a:ext cx="7658001" cy="6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Eksperimen Model untuk Prediksi Genre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34475" y="150497"/>
            <a:ext cx="3830986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94116" y="2624344"/>
            <a:ext cx="4400272" cy="666552"/>
            <a:chOff x="0" y="0"/>
            <a:chExt cx="1158919" cy="1755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8919" cy="175503"/>
            </a:xfrm>
            <a:custGeom>
              <a:avLst/>
              <a:gdLst/>
              <a:ahLst/>
              <a:cxnLst/>
              <a:rect r="r" b="b" t="t" l="l"/>
              <a:pathLst>
                <a:path h="175503" w="1158919">
                  <a:moveTo>
                    <a:pt x="1158919" y="26391"/>
                  </a:moveTo>
                  <a:lnTo>
                    <a:pt x="1158919" y="149111"/>
                  </a:lnTo>
                  <a:cubicBezTo>
                    <a:pt x="1158919" y="163687"/>
                    <a:pt x="1147104" y="175503"/>
                    <a:pt x="1132528" y="175503"/>
                  </a:cubicBezTo>
                  <a:lnTo>
                    <a:pt x="26391" y="175503"/>
                  </a:lnTo>
                  <a:cubicBezTo>
                    <a:pt x="11816" y="175503"/>
                    <a:pt x="0" y="163687"/>
                    <a:pt x="0" y="149111"/>
                  </a:cubicBezTo>
                  <a:lnTo>
                    <a:pt x="0" y="26391"/>
                  </a:lnTo>
                  <a:cubicBezTo>
                    <a:pt x="0" y="11816"/>
                    <a:pt x="11816" y="0"/>
                    <a:pt x="26391" y="0"/>
                  </a:cubicBezTo>
                  <a:lnTo>
                    <a:pt x="1132528" y="0"/>
                  </a:lnTo>
                  <a:cubicBezTo>
                    <a:pt x="1147104" y="0"/>
                    <a:pt x="1158919" y="11816"/>
                    <a:pt x="1158919" y="26391"/>
                  </a:cubicBez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158919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46252" y="2624344"/>
            <a:ext cx="4502870" cy="666552"/>
            <a:chOff x="0" y="0"/>
            <a:chExt cx="1185941" cy="1755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85941" cy="175503"/>
            </a:xfrm>
            <a:custGeom>
              <a:avLst/>
              <a:gdLst/>
              <a:ahLst/>
              <a:cxnLst/>
              <a:rect r="r" b="b" t="t" l="l"/>
              <a:pathLst>
                <a:path h="175503" w="1185941">
                  <a:moveTo>
                    <a:pt x="1185941" y="34387"/>
                  </a:moveTo>
                  <a:lnTo>
                    <a:pt x="1185941" y="141116"/>
                  </a:lnTo>
                  <a:cubicBezTo>
                    <a:pt x="1185941" y="160107"/>
                    <a:pt x="1170546" y="175503"/>
                    <a:pt x="1151554" y="175503"/>
                  </a:cubicBezTo>
                  <a:lnTo>
                    <a:pt x="34387" y="175503"/>
                  </a:lnTo>
                  <a:cubicBezTo>
                    <a:pt x="15395" y="175503"/>
                    <a:pt x="0" y="160107"/>
                    <a:pt x="0" y="141116"/>
                  </a:cubicBezTo>
                  <a:lnTo>
                    <a:pt x="0" y="34387"/>
                  </a:lnTo>
                  <a:cubicBezTo>
                    <a:pt x="0" y="15395"/>
                    <a:pt x="15395" y="0"/>
                    <a:pt x="34387" y="0"/>
                  </a:cubicBezTo>
                  <a:lnTo>
                    <a:pt x="1151554" y="0"/>
                  </a:lnTo>
                  <a:cubicBezTo>
                    <a:pt x="1170546" y="0"/>
                    <a:pt x="1185941" y="15395"/>
                    <a:pt x="1185941" y="34387"/>
                  </a:cubicBez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185941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24956" y="2662345"/>
            <a:ext cx="411283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Nama Model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20775" y="2662345"/>
            <a:ext cx="420672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Hyperparameter Tunning 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001521" y="2624344"/>
            <a:ext cx="4502870" cy="666552"/>
            <a:chOff x="0" y="0"/>
            <a:chExt cx="1185941" cy="1755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85941" cy="175503"/>
            </a:xfrm>
            <a:custGeom>
              <a:avLst/>
              <a:gdLst/>
              <a:ahLst/>
              <a:cxnLst/>
              <a:rect r="r" b="b" t="t" l="l"/>
              <a:pathLst>
                <a:path h="175503" w="1185941">
                  <a:moveTo>
                    <a:pt x="1185941" y="34387"/>
                  </a:moveTo>
                  <a:lnTo>
                    <a:pt x="1185941" y="141116"/>
                  </a:lnTo>
                  <a:cubicBezTo>
                    <a:pt x="1185941" y="160107"/>
                    <a:pt x="1170546" y="175503"/>
                    <a:pt x="1151554" y="175503"/>
                  </a:cubicBezTo>
                  <a:lnTo>
                    <a:pt x="34387" y="175503"/>
                  </a:lnTo>
                  <a:cubicBezTo>
                    <a:pt x="15395" y="175503"/>
                    <a:pt x="0" y="160107"/>
                    <a:pt x="0" y="141116"/>
                  </a:cubicBezTo>
                  <a:lnTo>
                    <a:pt x="0" y="34387"/>
                  </a:lnTo>
                  <a:cubicBezTo>
                    <a:pt x="0" y="15395"/>
                    <a:pt x="15395" y="0"/>
                    <a:pt x="34387" y="0"/>
                  </a:cubicBezTo>
                  <a:lnTo>
                    <a:pt x="1151554" y="0"/>
                  </a:lnTo>
                  <a:cubicBezTo>
                    <a:pt x="1170546" y="0"/>
                    <a:pt x="1185941" y="15395"/>
                    <a:pt x="1185941" y="34387"/>
                  </a:cubicBez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185941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176044" y="2662345"/>
            <a:ext cx="420672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Micro Average F1-Score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656791" y="2624344"/>
            <a:ext cx="2861170" cy="666552"/>
            <a:chOff x="0" y="0"/>
            <a:chExt cx="753559" cy="1755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3559" cy="175503"/>
            </a:xfrm>
            <a:custGeom>
              <a:avLst/>
              <a:gdLst/>
              <a:ahLst/>
              <a:cxnLst/>
              <a:rect r="r" b="b" t="t" l="l"/>
              <a:pathLst>
                <a:path h="175503" w="753559">
                  <a:moveTo>
                    <a:pt x="753559" y="54117"/>
                  </a:moveTo>
                  <a:lnTo>
                    <a:pt x="753559" y="121385"/>
                  </a:lnTo>
                  <a:cubicBezTo>
                    <a:pt x="753559" y="151274"/>
                    <a:pt x="729330" y="175503"/>
                    <a:pt x="699442" y="175503"/>
                  </a:cubicBezTo>
                  <a:lnTo>
                    <a:pt x="54117" y="175503"/>
                  </a:lnTo>
                  <a:cubicBezTo>
                    <a:pt x="39764" y="175503"/>
                    <a:pt x="25999" y="169801"/>
                    <a:pt x="15851" y="159652"/>
                  </a:cubicBezTo>
                  <a:cubicBezTo>
                    <a:pt x="5702" y="149503"/>
                    <a:pt x="0" y="135738"/>
                    <a:pt x="0" y="121385"/>
                  </a:cubicBezTo>
                  <a:lnTo>
                    <a:pt x="0" y="54117"/>
                  </a:lnTo>
                  <a:cubicBezTo>
                    <a:pt x="0" y="39764"/>
                    <a:pt x="5702" y="25999"/>
                    <a:pt x="15851" y="15851"/>
                  </a:cubicBezTo>
                  <a:cubicBezTo>
                    <a:pt x="25999" y="5702"/>
                    <a:pt x="39764" y="0"/>
                    <a:pt x="54117" y="0"/>
                  </a:cubicBezTo>
                  <a:lnTo>
                    <a:pt x="699442" y="0"/>
                  </a:lnTo>
                  <a:cubicBezTo>
                    <a:pt x="713795" y="0"/>
                    <a:pt x="727560" y="5702"/>
                    <a:pt x="737709" y="15851"/>
                  </a:cubicBezTo>
                  <a:cubicBezTo>
                    <a:pt x="747858" y="25999"/>
                    <a:pt x="753559" y="39764"/>
                    <a:pt x="753559" y="54117"/>
                  </a:cubicBez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753559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767684" y="2662345"/>
            <a:ext cx="267299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Hamming Loss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94116" y="3657187"/>
            <a:ext cx="4400272" cy="666552"/>
            <a:chOff x="0" y="0"/>
            <a:chExt cx="1158919" cy="1755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58919" cy="175503"/>
            </a:xfrm>
            <a:custGeom>
              <a:avLst/>
              <a:gdLst/>
              <a:ahLst/>
              <a:cxnLst/>
              <a:rect r="r" b="b" t="t" l="l"/>
              <a:pathLst>
                <a:path h="175503" w="1158919">
                  <a:moveTo>
                    <a:pt x="1158919" y="26391"/>
                  </a:moveTo>
                  <a:lnTo>
                    <a:pt x="1158919" y="149111"/>
                  </a:lnTo>
                  <a:cubicBezTo>
                    <a:pt x="1158919" y="163687"/>
                    <a:pt x="1147104" y="175503"/>
                    <a:pt x="1132528" y="175503"/>
                  </a:cubicBezTo>
                  <a:lnTo>
                    <a:pt x="26391" y="175503"/>
                  </a:lnTo>
                  <a:cubicBezTo>
                    <a:pt x="11816" y="175503"/>
                    <a:pt x="0" y="163687"/>
                    <a:pt x="0" y="149111"/>
                  </a:cubicBezTo>
                  <a:lnTo>
                    <a:pt x="0" y="26391"/>
                  </a:lnTo>
                  <a:cubicBezTo>
                    <a:pt x="0" y="11816"/>
                    <a:pt x="11816" y="0"/>
                    <a:pt x="26391" y="0"/>
                  </a:cubicBezTo>
                  <a:lnTo>
                    <a:pt x="1132528" y="0"/>
                  </a:lnTo>
                  <a:cubicBezTo>
                    <a:pt x="1147104" y="0"/>
                    <a:pt x="1158919" y="11816"/>
                    <a:pt x="1158919" y="26391"/>
                  </a:cubicBezTo>
                  <a:close/>
                </a:path>
              </a:pathLst>
            </a:custGeom>
            <a:solidFill>
              <a:srgbClr val="FFFFFE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158919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24956" y="3718725"/>
            <a:ext cx="415685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</a:t>
            </a: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ort Vector Classifier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94116" y="5548738"/>
            <a:ext cx="4400272" cy="718003"/>
            <a:chOff x="0" y="0"/>
            <a:chExt cx="1158919" cy="189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8919" cy="189050"/>
            </a:xfrm>
            <a:custGeom>
              <a:avLst/>
              <a:gdLst/>
              <a:ahLst/>
              <a:cxnLst/>
              <a:rect r="r" b="b" t="t" l="l"/>
              <a:pathLst>
                <a:path h="189050" w="1158919">
                  <a:moveTo>
                    <a:pt x="1158919" y="26391"/>
                  </a:moveTo>
                  <a:lnTo>
                    <a:pt x="1158919" y="162658"/>
                  </a:lnTo>
                  <a:cubicBezTo>
                    <a:pt x="1158919" y="169658"/>
                    <a:pt x="1156139" y="176370"/>
                    <a:pt x="1151190" y="181320"/>
                  </a:cubicBezTo>
                  <a:cubicBezTo>
                    <a:pt x="1146240" y="186269"/>
                    <a:pt x="1139528" y="189050"/>
                    <a:pt x="1132528" y="189050"/>
                  </a:cubicBezTo>
                  <a:lnTo>
                    <a:pt x="26391" y="189050"/>
                  </a:lnTo>
                  <a:cubicBezTo>
                    <a:pt x="11816" y="189050"/>
                    <a:pt x="0" y="177234"/>
                    <a:pt x="0" y="162658"/>
                  </a:cubicBezTo>
                  <a:lnTo>
                    <a:pt x="0" y="26391"/>
                  </a:lnTo>
                  <a:cubicBezTo>
                    <a:pt x="0" y="11816"/>
                    <a:pt x="11816" y="0"/>
                    <a:pt x="26391" y="0"/>
                  </a:cubicBezTo>
                  <a:lnTo>
                    <a:pt x="1132528" y="0"/>
                  </a:lnTo>
                  <a:cubicBezTo>
                    <a:pt x="1147104" y="0"/>
                    <a:pt x="1158919" y="11816"/>
                    <a:pt x="1158919" y="26391"/>
                  </a:cubicBezTo>
                  <a:close/>
                </a:path>
              </a:pathLst>
            </a:custGeom>
            <a:solidFill>
              <a:srgbClr val="FFFFFE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158919" cy="24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24956" y="5662609"/>
            <a:ext cx="415685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SVC +  Fiture Enginering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05523" y="4577385"/>
            <a:ext cx="4400272" cy="666552"/>
            <a:chOff x="0" y="0"/>
            <a:chExt cx="1158919" cy="17550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58919" cy="175503"/>
            </a:xfrm>
            <a:custGeom>
              <a:avLst/>
              <a:gdLst/>
              <a:ahLst/>
              <a:cxnLst/>
              <a:rect r="r" b="b" t="t" l="l"/>
              <a:pathLst>
                <a:path h="175503" w="1158919">
                  <a:moveTo>
                    <a:pt x="1158919" y="26391"/>
                  </a:moveTo>
                  <a:lnTo>
                    <a:pt x="1158919" y="149111"/>
                  </a:lnTo>
                  <a:cubicBezTo>
                    <a:pt x="1158919" y="163687"/>
                    <a:pt x="1147104" y="175503"/>
                    <a:pt x="1132528" y="175503"/>
                  </a:cubicBezTo>
                  <a:lnTo>
                    <a:pt x="26391" y="175503"/>
                  </a:lnTo>
                  <a:cubicBezTo>
                    <a:pt x="11816" y="175503"/>
                    <a:pt x="0" y="163687"/>
                    <a:pt x="0" y="149111"/>
                  </a:cubicBezTo>
                  <a:lnTo>
                    <a:pt x="0" y="26391"/>
                  </a:lnTo>
                  <a:cubicBezTo>
                    <a:pt x="0" y="11816"/>
                    <a:pt x="11816" y="0"/>
                    <a:pt x="26391" y="0"/>
                  </a:cubicBezTo>
                  <a:lnTo>
                    <a:pt x="1132528" y="0"/>
                  </a:lnTo>
                  <a:cubicBezTo>
                    <a:pt x="1147104" y="0"/>
                    <a:pt x="1158919" y="11816"/>
                    <a:pt x="1158919" y="26391"/>
                  </a:cubicBezTo>
                  <a:close/>
                </a:path>
              </a:pathLst>
            </a:custGeom>
            <a:solidFill>
              <a:srgbClr val="FFFFFE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158919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03221" y="4634535"/>
            <a:ext cx="415685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</a:t>
            </a: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ort Vector Classifier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794116" y="6571541"/>
            <a:ext cx="4400272" cy="612770"/>
            <a:chOff x="0" y="0"/>
            <a:chExt cx="1158919" cy="16134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58919" cy="161342"/>
            </a:xfrm>
            <a:custGeom>
              <a:avLst/>
              <a:gdLst/>
              <a:ahLst/>
              <a:cxnLst/>
              <a:rect r="r" b="b" t="t" l="l"/>
              <a:pathLst>
                <a:path h="161342" w="1158919">
                  <a:moveTo>
                    <a:pt x="1158919" y="26391"/>
                  </a:moveTo>
                  <a:lnTo>
                    <a:pt x="1158919" y="134950"/>
                  </a:lnTo>
                  <a:cubicBezTo>
                    <a:pt x="1158919" y="141950"/>
                    <a:pt x="1156139" y="148663"/>
                    <a:pt x="1151190" y="153612"/>
                  </a:cubicBezTo>
                  <a:cubicBezTo>
                    <a:pt x="1146240" y="158561"/>
                    <a:pt x="1139528" y="161342"/>
                    <a:pt x="1132528" y="161342"/>
                  </a:cubicBezTo>
                  <a:lnTo>
                    <a:pt x="26391" y="161342"/>
                  </a:lnTo>
                  <a:cubicBezTo>
                    <a:pt x="11816" y="161342"/>
                    <a:pt x="0" y="149526"/>
                    <a:pt x="0" y="134950"/>
                  </a:cubicBezTo>
                  <a:lnTo>
                    <a:pt x="0" y="26391"/>
                  </a:lnTo>
                  <a:cubicBezTo>
                    <a:pt x="0" y="11816"/>
                    <a:pt x="11816" y="0"/>
                    <a:pt x="26391" y="0"/>
                  </a:cubicBezTo>
                  <a:lnTo>
                    <a:pt x="1132528" y="0"/>
                  </a:lnTo>
                  <a:cubicBezTo>
                    <a:pt x="1147104" y="0"/>
                    <a:pt x="1158919" y="11816"/>
                    <a:pt x="1158919" y="26391"/>
                  </a:cubicBezTo>
                  <a:close/>
                </a:path>
              </a:pathLst>
            </a:custGeom>
            <a:solidFill>
              <a:srgbClr val="FFFFFE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158919" cy="218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891813" y="6618902"/>
            <a:ext cx="4145979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SVC</a:t>
            </a: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  Fiture Enginering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94116" y="7517686"/>
            <a:ext cx="4400272" cy="502863"/>
            <a:chOff x="0" y="0"/>
            <a:chExt cx="1158919" cy="13240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58919" cy="132403"/>
            </a:xfrm>
            <a:custGeom>
              <a:avLst/>
              <a:gdLst/>
              <a:ahLst/>
              <a:cxnLst/>
              <a:rect r="r" b="b" t="t" l="l"/>
              <a:pathLst>
                <a:path h="132403" w="1158919">
                  <a:moveTo>
                    <a:pt x="1158919" y="26391"/>
                  </a:moveTo>
                  <a:lnTo>
                    <a:pt x="1158919" y="106012"/>
                  </a:lnTo>
                  <a:cubicBezTo>
                    <a:pt x="1158919" y="113011"/>
                    <a:pt x="1156139" y="119724"/>
                    <a:pt x="1151190" y="124673"/>
                  </a:cubicBezTo>
                  <a:cubicBezTo>
                    <a:pt x="1146240" y="129623"/>
                    <a:pt x="1139528" y="132403"/>
                    <a:pt x="1132528" y="132403"/>
                  </a:cubicBezTo>
                  <a:lnTo>
                    <a:pt x="26391" y="132403"/>
                  </a:lnTo>
                  <a:cubicBezTo>
                    <a:pt x="11816" y="132403"/>
                    <a:pt x="0" y="120587"/>
                    <a:pt x="0" y="106012"/>
                  </a:cubicBezTo>
                  <a:lnTo>
                    <a:pt x="0" y="26391"/>
                  </a:lnTo>
                  <a:cubicBezTo>
                    <a:pt x="0" y="11816"/>
                    <a:pt x="11816" y="0"/>
                    <a:pt x="26391" y="0"/>
                  </a:cubicBezTo>
                  <a:lnTo>
                    <a:pt x="1132528" y="0"/>
                  </a:lnTo>
                  <a:cubicBezTo>
                    <a:pt x="1147104" y="0"/>
                    <a:pt x="1158919" y="11816"/>
                    <a:pt x="1158919" y="26391"/>
                  </a:cubicBezTo>
                  <a:close/>
                </a:path>
              </a:pathLst>
            </a:custGeom>
            <a:solidFill>
              <a:srgbClr val="FFFFFE">
                <a:alpha val="24706"/>
              </a:srgbClr>
            </a:solidFill>
            <a:ln w="19050" cap="sq">
              <a:solidFill>
                <a:srgbClr val="000000">
                  <a:alpha val="24706"/>
                </a:srgbClr>
              </a:solidFill>
              <a:prstDash val="lgDash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1158919" cy="18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24956" y="7528621"/>
            <a:ext cx="415685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BERT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794116" y="8277724"/>
            <a:ext cx="4400272" cy="517308"/>
            <a:chOff x="0" y="0"/>
            <a:chExt cx="1158919" cy="13620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58919" cy="136207"/>
            </a:xfrm>
            <a:custGeom>
              <a:avLst/>
              <a:gdLst/>
              <a:ahLst/>
              <a:cxnLst/>
              <a:rect r="r" b="b" t="t" l="l"/>
              <a:pathLst>
                <a:path h="136207" w="1158919">
                  <a:moveTo>
                    <a:pt x="1158919" y="26391"/>
                  </a:moveTo>
                  <a:lnTo>
                    <a:pt x="1158919" y="109815"/>
                  </a:lnTo>
                  <a:cubicBezTo>
                    <a:pt x="1158919" y="116815"/>
                    <a:pt x="1156139" y="123527"/>
                    <a:pt x="1151190" y="128477"/>
                  </a:cubicBezTo>
                  <a:cubicBezTo>
                    <a:pt x="1146240" y="133426"/>
                    <a:pt x="1139528" y="136207"/>
                    <a:pt x="1132528" y="136207"/>
                  </a:cubicBezTo>
                  <a:lnTo>
                    <a:pt x="26391" y="136207"/>
                  </a:lnTo>
                  <a:cubicBezTo>
                    <a:pt x="11816" y="136207"/>
                    <a:pt x="0" y="124391"/>
                    <a:pt x="0" y="109815"/>
                  </a:cubicBezTo>
                  <a:lnTo>
                    <a:pt x="0" y="26391"/>
                  </a:lnTo>
                  <a:cubicBezTo>
                    <a:pt x="0" y="11816"/>
                    <a:pt x="11816" y="0"/>
                    <a:pt x="26391" y="0"/>
                  </a:cubicBezTo>
                  <a:lnTo>
                    <a:pt x="1132528" y="0"/>
                  </a:lnTo>
                  <a:cubicBezTo>
                    <a:pt x="1147104" y="0"/>
                    <a:pt x="1158919" y="11816"/>
                    <a:pt x="1158919" y="26391"/>
                  </a:cubicBezTo>
                  <a:close/>
                </a:path>
              </a:pathLst>
            </a:custGeom>
            <a:solidFill>
              <a:srgbClr val="C2F6FF">
                <a:alpha val="24706"/>
              </a:srgbClr>
            </a:solidFill>
            <a:ln w="19050" cap="sq">
              <a:solidFill>
                <a:srgbClr val="000000">
                  <a:alpha val="24706"/>
                </a:srgbClr>
              </a:solidFill>
              <a:prstDash val="lgDash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158919" cy="19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24956" y="8287249"/>
            <a:ext cx="415685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BERT</a:t>
            </a: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  Fiture Enginering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5346252" y="3639449"/>
            <a:ext cx="4502870" cy="661282"/>
            <a:chOff x="0" y="0"/>
            <a:chExt cx="1185941" cy="17411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85941" cy="174115"/>
            </a:xfrm>
            <a:custGeom>
              <a:avLst/>
              <a:gdLst/>
              <a:ahLst/>
              <a:cxnLst/>
              <a:rect r="r" b="b" t="t" l="l"/>
              <a:pathLst>
                <a:path h="174115" w="1185941">
                  <a:moveTo>
                    <a:pt x="1185941" y="34387"/>
                  </a:moveTo>
                  <a:lnTo>
                    <a:pt x="1185941" y="139728"/>
                  </a:lnTo>
                  <a:cubicBezTo>
                    <a:pt x="1185941" y="158720"/>
                    <a:pt x="1170546" y="174115"/>
                    <a:pt x="1151554" y="174115"/>
                  </a:cubicBezTo>
                  <a:lnTo>
                    <a:pt x="34387" y="174115"/>
                  </a:lnTo>
                  <a:cubicBezTo>
                    <a:pt x="15395" y="174115"/>
                    <a:pt x="0" y="158720"/>
                    <a:pt x="0" y="139728"/>
                  </a:cubicBezTo>
                  <a:lnTo>
                    <a:pt x="0" y="34387"/>
                  </a:lnTo>
                  <a:cubicBezTo>
                    <a:pt x="0" y="15395"/>
                    <a:pt x="15395" y="0"/>
                    <a:pt x="34387" y="0"/>
                  </a:cubicBezTo>
                  <a:lnTo>
                    <a:pt x="1151554" y="0"/>
                  </a:lnTo>
                  <a:cubicBezTo>
                    <a:pt x="1170546" y="0"/>
                    <a:pt x="1185941" y="15395"/>
                    <a:pt x="1185941" y="3438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185941" cy="231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5399154" y="3725632"/>
            <a:ext cx="444963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False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5346252" y="5548738"/>
            <a:ext cx="4502870" cy="689428"/>
            <a:chOff x="0" y="0"/>
            <a:chExt cx="1185941" cy="18152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85941" cy="181526"/>
            </a:xfrm>
            <a:custGeom>
              <a:avLst/>
              <a:gdLst/>
              <a:ahLst/>
              <a:cxnLst/>
              <a:rect r="r" b="b" t="t" l="l"/>
              <a:pathLst>
                <a:path h="181526" w="1185941">
                  <a:moveTo>
                    <a:pt x="1185941" y="34387"/>
                  </a:moveTo>
                  <a:lnTo>
                    <a:pt x="1185941" y="147139"/>
                  </a:lnTo>
                  <a:cubicBezTo>
                    <a:pt x="1185941" y="166130"/>
                    <a:pt x="1170546" y="181526"/>
                    <a:pt x="1151554" y="181526"/>
                  </a:cubicBezTo>
                  <a:lnTo>
                    <a:pt x="34387" y="181526"/>
                  </a:lnTo>
                  <a:cubicBezTo>
                    <a:pt x="15395" y="181526"/>
                    <a:pt x="0" y="166130"/>
                    <a:pt x="0" y="147139"/>
                  </a:cubicBezTo>
                  <a:lnTo>
                    <a:pt x="0" y="34387"/>
                  </a:lnTo>
                  <a:cubicBezTo>
                    <a:pt x="0" y="15395"/>
                    <a:pt x="15395" y="0"/>
                    <a:pt x="34387" y="0"/>
                  </a:cubicBezTo>
                  <a:lnTo>
                    <a:pt x="1151554" y="0"/>
                  </a:lnTo>
                  <a:cubicBezTo>
                    <a:pt x="1170546" y="0"/>
                    <a:pt x="1185941" y="15395"/>
                    <a:pt x="1185941" y="3438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185941" cy="238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357659" y="4564784"/>
            <a:ext cx="4502538" cy="666552"/>
            <a:chOff x="0" y="0"/>
            <a:chExt cx="1185854" cy="17550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85854" cy="175503"/>
            </a:xfrm>
            <a:custGeom>
              <a:avLst/>
              <a:gdLst/>
              <a:ahLst/>
              <a:cxnLst/>
              <a:rect r="r" b="b" t="t" l="l"/>
              <a:pathLst>
                <a:path h="175503" w="1185854">
                  <a:moveTo>
                    <a:pt x="1185854" y="34389"/>
                  </a:moveTo>
                  <a:lnTo>
                    <a:pt x="1185854" y="141113"/>
                  </a:lnTo>
                  <a:cubicBezTo>
                    <a:pt x="1185854" y="150234"/>
                    <a:pt x="1182230" y="158981"/>
                    <a:pt x="1175781" y="165430"/>
                  </a:cubicBezTo>
                  <a:cubicBezTo>
                    <a:pt x="1169332" y="171879"/>
                    <a:pt x="1160585" y="175503"/>
                    <a:pt x="1151464" y="175503"/>
                  </a:cubicBezTo>
                  <a:lnTo>
                    <a:pt x="34389" y="175503"/>
                  </a:lnTo>
                  <a:cubicBezTo>
                    <a:pt x="25269" y="175503"/>
                    <a:pt x="16522" y="171879"/>
                    <a:pt x="10072" y="165430"/>
                  </a:cubicBezTo>
                  <a:cubicBezTo>
                    <a:pt x="3623" y="158981"/>
                    <a:pt x="0" y="150234"/>
                    <a:pt x="0" y="141113"/>
                  </a:cubicBezTo>
                  <a:lnTo>
                    <a:pt x="0" y="34389"/>
                  </a:lnTo>
                  <a:cubicBezTo>
                    <a:pt x="0" y="25269"/>
                    <a:pt x="3623" y="16522"/>
                    <a:pt x="10072" y="10072"/>
                  </a:cubicBezTo>
                  <a:cubicBezTo>
                    <a:pt x="16522" y="3623"/>
                    <a:pt x="25269" y="0"/>
                    <a:pt x="34389" y="0"/>
                  </a:cubicBezTo>
                  <a:lnTo>
                    <a:pt x="1151464" y="0"/>
                  </a:lnTo>
                  <a:cubicBezTo>
                    <a:pt x="1160585" y="0"/>
                    <a:pt x="1169332" y="3623"/>
                    <a:pt x="1175781" y="10072"/>
                  </a:cubicBezTo>
                  <a:cubicBezTo>
                    <a:pt x="1182230" y="16522"/>
                    <a:pt x="1185854" y="25269"/>
                    <a:pt x="1185854" y="3438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1185854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346252" y="6571541"/>
            <a:ext cx="4502538" cy="612770"/>
            <a:chOff x="0" y="0"/>
            <a:chExt cx="1185854" cy="16134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85854" cy="161342"/>
            </a:xfrm>
            <a:custGeom>
              <a:avLst/>
              <a:gdLst/>
              <a:ahLst/>
              <a:cxnLst/>
              <a:rect r="r" b="b" t="t" l="l"/>
              <a:pathLst>
                <a:path h="161342" w="1185854">
                  <a:moveTo>
                    <a:pt x="1185854" y="34389"/>
                  </a:moveTo>
                  <a:lnTo>
                    <a:pt x="1185854" y="126953"/>
                  </a:lnTo>
                  <a:cubicBezTo>
                    <a:pt x="1185854" y="136073"/>
                    <a:pt x="1182230" y="144820"/>
                    <a:pt x="1175781" y="151269"/>
                  </a:cubicBezTo>
                  <a:cubicBezTo>
                    <a:pt x="1169332" y="157719"/>
                    <a:pt x="1160585" y="161342"/>
                    <a:pt x="1151464" y="161342"/>
                  </a:cubicBezTo>
                  <a:lnTo>
                    <a:pt x="34389" y="161342"/>
                  </a:lnTo>
                  <a:cubicBezTo>
                    <a:pt x="25269" y="161342"/>
                    <a:pt x="16522" y="157719"/>
                    <a:pt x="10072" y="151269"/>
                  </a:cubicBezTo>
                  <a:cubicBezTo>
                    <a:pt x="3623" y="144820"/>
                    <a:pt x="0" y="136073"/>
                    <a:pt x="0" y="126953"/>
                  </a:cubicBezTo>
                  <a:lnTo>
                    <a:pt x="0" y="34389"/>
                  </a:lnTo>
                  <a:cubicBezTo>
                    <a:pt x="0" y="25269"/>
                    <a:pt x="3623" y="16522"/>
                    <a:pt x="10072" y="10072"/>
                  </a:cubicBezTo>
                  <a:cubicBezTo>
                    <a:pt x="16522" y="3623"/>
                    <a:pt x="25269" y="0"/>
                    <a:pt x="34389" y="0"/>
                  </a:cubicBezTo>
                  <a:lnTo>
                    <a:pt x="1151464" y="0"/>
                  </a:lnTo>
                  <a:cubicBezTo>
                    <a:pt x="1160585" y="0"/>
                    <a:pt x="1169332" y="3623"/>
                    <a:pt x="1175781" y="10072"/>
                  </a:cubicBezTo>
                  <a:cubicBezTo>
                    <a:pt x="1182230" y="16522"/>
                    <a:pt x="1185854" y="25269"/>
                    <a:pt x="1185854" y="3438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1185854" cy="218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346252" y="7517686"/>
            <a:ext cx="4502538" cy="502863"/>
            <a:chOff x="0" y="0"/>
            <a:chExt cx="1185854" cy="13240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85854" cy="132403"/>
            </a:xfrm>
            <a:custGeom>
              <a:avLst/>
              <a:gdLst/>
              <a:ahLst/>
              <a:cxnLst/>
              <a:rect r="r" b="b" t="t" l="l"/>
              <a:pathLst>
                <a:path h="132403" w="1185854">
                  <a:moveTo>
                    <a:pt x="1185854" y="34389"/>
                  </a:moveTo>
                  <a:lnTo>
                    <a:pt x="1185854" y="98014"/>
                  </a:lnTo>
                  <a:cubicBezTo>
                    <a:pt x="1185854" y="107135"/>
                    <a:pt x="1182230" y="115882"/>
                    <a:pt x="1175781" y="122331"/>
                  </a:cubicBezTo>
                  <a:cubicBezTo>
                    <a:pt x="1169332" y="128780"/>
                    <a:pt x="1160585" y="132403"/>
                    <a:pt x="1151464" y="132403"/>
                  </a:cubicBezTo>
                  <a:lnTo>
                    <a:pt x="34389" y="132403"/>
                  </a:lnTo>
                  <a:cubicBezTo>
                    <a:pt x="25269" y="132403"/>
                    <a:pt x="16522" y="128780"/>
                    <a:pt x="10072" y="122331"/>
                  </a:cubicBezTo>
                  <a:cubicBezTo>
                    <a:pt x="3623" y="115882"/>
                    <a:pt x="0" y="107135"/>
                    <a:pt x="0" y="98014"/>
                  </a:cubicBezTo>
                  <a:lnTo>
                    <a:pt x="0" y="34389"/>
                  </a:lnTo>
                  <a:cubicBezTo>
                    <a:pt x="0" y="25269"/>
                    <a:pt x="3623" y="16522"/>
                    <a:pt x="10072" y="10072"/>
                  </a:cubicBezTo>
                  <a:cubicBezTo>
                    <a:pt x="16522" y="3623"/>
                    <a:pt x="25269" y="0"/>
                    <a:pt x="34389" y="0"/>
                  </a:cubicBezTo>
                  <a:lnTo>
                    <a:pt x="1151464" y="0"/>
                  </a:lnTo>
                  <a:cubicBezTo>
                    <a:pt x="1160585" y="0"/>
                    <a:pt x="1169332" y="3623"/>
                    <a:pt x="1175781" y="10072"/>
                  </a:cubicBezTo>
                  <a:cubicBezTo>
                    <a:pt x="1182230" y="16522"/>
                    <a:pt x="1185854" y="25269"/>
                    <a:pt x="1185854" y="3438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24706"/>
                </a:srgbClr>
              </a:solidFill>
              <a:prstDash val="lgDash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1185854" cy="18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346252" y="8277724"/>
            <a:ext cx="4502538" cy="517308"/>
            <a:chOff x="0" y="0"/>
            <a:chExt cx="1185854" cy="13620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85854" cy="136207"/>
            </a:xfrm>
            <a:custGeom>
              <a:avLst/>
              <a:gdLst/>
              <a:ahLst/>
              <a:cxnLst/>
              <a:rect r="r" b="b" t="t" l="l"/>
              <a:pathLst>
                <a:path h="136207" w="1185854">
                  <a:moveTo>
                    <a:pt x="1185854" y="34389"/>
                  </a:moveTo>
                  <a:lnTo>
                    <a:pt x="1185854" y="101817"/>
                  </a:lnTo>
                  <a:cubicBezTo>
                    <a:pt x="1185854" y="110938"/>
                    <a:pt x="1182230" y="119685"/>
                    <a:pt x="1175781" y="126134"/>
                  </a:cubicBezTo>
                  <a:cubicBezTo>
                    <a:pt x="1169332" y="132584"/>
                    <a:pt x="1160585" y="136207"/>
                    <a:pt x="1151464" y="136207"/>
                  </a:cubicBezTo>
                  <a:lnTo>
                    <a:pt x="34389" y="136207"/>
                  </a:lnTo>
                  <a:cubicBezTo>
                    <a:pt x="25269" y="136207"/>
                    <a:pt x="16522" y="132584"/>
                    <a:pt x="10072" y="126134"/>
                  </a:cubicBezTo>
                  <a:cubicBezTo>
                    <a:pt x="3623" y="119685"/>
                    <a:pt x="0" y="110938"/>
                    <a:pt x="0" y="101817"/>
                  </a:cubicBezTo>
                  <a:lnTo>
                    <a:pt x="0" y="34389"/>
                  </a:lnTo>
                  <a:cubicBezTo>
                    <a:pt x="0" y="25269"/>
                    <a:pt x="3623" y="16522"/>
                    <a:pt x="10072" y="10072"/>
                  </a:cubicBezTo>
                  <a:cubicBezTo>
                    <a:pt x="16522" y="3623"/>
                    <a:pt x="25269" y="0"/>
                    <a:pt x="34389" y="0"/>
                  </a:cubicBezTo>
                  <a:lnTo>
                    <a:pt x="1151464" y="0"/>
                  </a:lnTo>
                  <a:cubicBezTo>
                    <a:pt x="1160585" y="0"/>
                    <a:pt x="1169332" y="3623"/>
                    <a:pt x="1175781" y="10072"/>
                  </a:cubicBezTo>
                  <a:cubicBezTo>
                    <a:pt x="1182230" y="16522"/>
                    <a:pt x="1185854" y="25269"/>
                    <a:pt x="1185854" y="34389"/>
                  </a:cubicBezTo>
                  <a:close/>
                </a:path>
              </a:pathLst>
            </a:custGeom>
            <a:solidFill>
              <a:srgbClr val="C2F6FF">
                <a:alpha val="24706"/>
              </a:srgbClr>
            </a:solidFill>
            <a:ln w="19050" cap="sq">
              <a:solidFill>
                <a:srgbClr val="000000">
                  <a:alpha val="24706"/>
                </a:srgbClr>
              </a:solidFill>
              <a:prstDash val="lgDash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1185854" cy="19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5463464" y="4633229"/>
            <a:ext cx="426403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399154" y="5649125"/>
            <a:ext cx="447608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False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452057" y="6618902"/>
            <a:ext cx="427544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452057" y="7509702"/>
            <a:ext cx="427544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False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452057" y="8276962"/>
            <a:ext cx="427544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False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0001521" y="3657187"/>
            <a:ext cx="4491821" cy="661282"/>
            <a:chOff x="0" y="0"/>
            <a:chExt cx="1183031" cy="17411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83031" cy="174115"/>
            </a:xfrm>
            <a:custGeom>
              <a:avLst/>
              <a:gdLst/>
              <a:ahLst/>
              <a:cxnLst/>
              <a:rect r="r" b="b" t="t" l="l"/>
              <a:pathLst>
                <a:path h="174115" w="1183031">
                  <a:moveTo>
                    <a:pt x="1183031" y="34471"/>
                  </a:moveTo>
                  <a:lnTo>
                    <a:pt x="1183031" y="139644"/>
                  </a:lnTo>
                  <a:cubicBezTo>
                    <a:pt x="1183031" y="148786"/>
                    <a:pt x="1179399" y="157554"/>
                    <a:pt x="1172935" y="164019"/>
                  </a:cubicBezTo>
                  <a:cubicBezTo>
                    <a:pt x="1166470" y="170483"/>
                    <a:pt x="1157702" y="174115"/>
                    <a:pt x="1148560" y="174115"/>
                  </a:cubicBezTo>
                  <a:lnTo>
                    <a:pt x="34471" y="174115"/>
                  </a:lnTo>
                  <a:cubicBezTo>
                    <a:pt x="25329" y="174115"/>
                    <a:pt x="16561" y="170483"/>
                    <a:pt x="10096" y="164019"/>
                  </a:cubicBezTo>
                  <a:cubicBezTo>
                    <a:pt x="3632" y="157554"/>
                    <a:pt x="0" y="148786"/>
                    <a:pt x="0" y="139644"/>
                  </a:cubicBezTo>
                  <a:lnTo>
                    <a:pt x="0" y="34471"/>
                  </a:lnTo>
                  <a:cubicBezTo>
                    <a:pt x="0" y="25329"/>
                    <a:pt x="3632" y="16561"/>
                    <a:pt x="10096" y="10096"/>
                  </a:cubicBezTo>
                  <a:cubicBezTo>
                    <a:pt x="16561" y="3632"/>
                    <a:pt x="25329" y="0"/>
                    <a:pt x="34471" y="0"/>
                  </a:cubicBezTo>
                  <a:lnTo>
                    <a:pt x="1148560" y="0"/>
                  </a:lnTo>
                  <a:cubicBezTo>
                    <a:pt x="1157702" y="0"/>
                    <a:pt x="1166470" y="3632"/>
                    <a:pt x="1172935" y="10096"/>
                  </a:cubicBezTo>
                  <a:cubicBezTo>
                    <a:pt x="1179399" y="16561"/>
                    <a:pt x="1183031" y="25329"/>
                    <a:pt x="1183031" y="3447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1183031" cy="231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0054294" y="3743371"/>
            <a:ext cx="443871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0.5141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0001521" y="5566476"/>
            <a:ext cx="4491821" cy="700265"/>
            <a:chOff x="0" y="0"/>
            <a:chExt cx="1183031" cy="18437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83031" cy="184379"/>
            </a:xfrm>
            <a:custGeom>
              <a:avLst/>
              <a:gdLst/>
              <a:ahLst/>
              <a:cxnLst/>
              <a:rect r="r" b="b" t="t" l="l"/>
              <a:pathLst>
                <a:path h="184379" w="1183031">
                  <a:moveTo>
                    <a:pt x="1183031" y="34471"/>
                  </a:moveTo>
                  <a:lnTo>
                    <a:pt x="1183031" y="149908"/>
                  </a:lnTo>
                  <a:cubicBezTo>
                    <a:pt x="1183031" y="159050"/>
                    <a:pt x="1179399" y="167818"/>
                    <a:pt x="1172935" y="174283"/>
                  </a:cubicBezTo>
                  <a:cubicBezTo>
                    <a:pt x="1166470" y="180747"/>
                    <a:pt x="1157702" y="184379"/>
                    <a:pt x="1148560" y="184379"/>
                  </a:cubicBezTo>
                  <a:lnTo>
                    <a:pt x="34471" y="184379"/>
                  </a:lnTo>
                  <a:cubicBezTo>
                    <a:pt x="25329" y="184379"/>
                    <a:pt x="16561" y="180747"/>
                    <a:pt x="10096" y="174283"/>
                  </a:cubicBezTo>
                  <a:cubicBezTo>
                    <a:pt x="3632" y="167818"/>
                    <a:pt x="0" y="159050"/>
                    <a:pt x="0" y="149908"/>
                  </a:cubicBezTo>
                  <a:lnTo>
                    <a:pt x="0" y="34471"/>
                  </a:lnTo>
                  <a:cubicBezTo>
                    <a:pt x="0" y="25329"/>
                    <a:pt x="3632" y="16561"/>
                    <a:pt x="10096" y="10096"/>
                  </a:cubicBezTo>
                  <a:cubicBezTo>
                    <a:pt x="16561" y="3632"/>
                    <a:pt x="25329" y="0"/>
                    <a:pt x="34471" y="0"/>
                  </a:cubicBezTo>
                  <a:lnTo>
                    <a:pt x="1148560" y="0"/>
                  </a:lnTo>
                  <a:cubicBezTo>
                    <a:pt x="1157702" y="0"/>
                    <a:pt x="1166470" y="3632"/>
                    <a:pt x="1172935" y="10096"/>
                  </a:cubicBezTo>
                  <a:cubicBezTo>
                    <a:pt x="1179399" y="16561"/>
                    <a:pt x="1183031" y="25329"/>
                    <a:pt x="1183031" y="3447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1183031" cy="241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012900" y="4582523"/>
            <a:ext cx="4491490" cy="666552"/>
            <a:chOff x="0" y="0"/>
            <a:chExt cx="1182944" cy="17550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82944" cy="175503"/>
            </a:xfrm>
            <a:custGeom>
              <a:avLst/>
              <a:gdLst/>
              <a:ahLst/>
              <a:cxnLst/>
              <a:rect r="r" b="b" t="t" l="l"/>
              <a:pathLst>
                <a:path h="175503" w="1182944">
                  <a:moveTo>
                    <a:pt x="1182944" y="34474"/>
                  </a:moveTo>
                  <a:lnTo>
                    <a:pt x="1182944" y="141029"/>
                  </a:lnTo>
                  <a:cubicBezTo>
                    <a:pt x="1182944" y="160068"/>
                    <a:pt x="1167510" y="175503"/>
                    <a:pt x="1148470" y="175503"/>
                  </a:cubicBezTo>
                  <a:lnTo>
                    <a:pt x="34474" y="175503"/>
                  </a:lnTo>
                  <a:cubicBezTo>
                    <a:pt x="25331" y="175503"/>
                    <a:pt x="16562" y="171871"/>
                    <a:pt x="10097" y="165405"/>
                  </a:cubicBezTo>
                  <a:cubicBezTo>
                    <a:pt x="3632" y="158940"/>
                    <a:pt x="0" y="150172"/>
                    <a:pt x="0" y="141029"/>
                  </a:cubicBezTo>
                  <a:lnTo>
                    <a:pt x="0" y="34474"/>
                  </a:lnTo>
                  <a:cubicBezTo>
                    <a:pt x="0" y="25331"/>
                    <a:pt x="3632" y="16562"/>
                    <a:pt x="10097" y="10097"/>
                  </a:cubicBezTo>
                  <a:cubicBezTo>
                    <a:pt x="16562" y="3632"/>
                    <a:pt x="25331" y="0"/>
                    <a:pt x="34474" y="0"/>
                  </a:cubicBezTo>
                  <a:lnTo>
                    <a:pt x="1148470" y="0"/>
                  </a:lnTo>
                  <a:cubicBezTo>
                    <a:pt x="1157613" y="0"/>
                    <a:pt x="1166382" y="3632"/>
                    <a:pt x="1172847" y="10097"/>
                  </a:cubicBezTo>
                  <a:cubicBezTo>
                    <a:pt x="1179312" y="16562"/>
                    <a:pt x="1182944" y="25331"/>
                    <a:pt x="1182944" y="3447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1182944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001521" y="6589280"/>
            <a:ext cx="4491490" cy="595032"/>
            <a:chOff x="0" y="0"/>
            <a:chExt cx="1182944" cy="15667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82944" cy="156671"/>
            </a:xfrm>
            <a:custGeom>
              <a:avLst/>
              <a:gdLst/>
              <a:ahLst/>
              <a:cxnLst/>
              <a:rect r="r" b="b" t="t" l="l"/>
              <a:pathLst>
                <a:path h="156671" w="1182944">
                  <a:moveTo>
                    <a:pt x="1182944" y="34474"/>
                  </a:moveTo>
                  <a:lnTo>
                    <a:pt x="1182944" y="122198"/>
                  </a:lnTo>
                  <a:cubicBezTo>
                    <a:pt x="1182944" y="141237"/>
                    <a:pt x="1167510" y="156671"/>
                    <a:pt x="1148470" y="156671"/>
                  </a:cubicBezTo>
                  <a:lnTo>
                    <a:pt x="34474" y="156671"/>
                  </a:lnTo>
                  <a:cubicBezTo>
                    <a:pt x="25331" y="156671"/>
                    <a:pt x="16562" y="153039"/>
                    <a:pt x="10097" y="146574"/>
                  </a:cubicBezTo>
                  <a:cubicBezTo>
                    <a:pt x="3632" y="140109"/>
                    <a:pt x="0" y="131341"/>
                    <a:pt x="0" y="122198"/>
                  </a:cubicBezTo>
                  <a:lnTo>
                    <a:pt x="0" y="34474"/>
                  </a:lnTo>
                  <a:cubicBezTo>
                    <a:pt x="0" y="25331"/>
                    <a:pt x="3632" y="16562"/>
                    <a:pt x="10097" y="10097"/>
                  </a:cubicBezTo>
                  <a:cubicBezTo>
                    <a:pt x="16562" y="3632"/>
                    <a:pt x="25331" y="0"/>
                    <a:pt x="34474" y="0"/>
                  </a:cubicBezTo>
                  <a:lnTo>
                    <a:pt x="1148470" y="0"/>
                  </a:lnTo>
                  <a:cubicBezTo>
                    <a:pt x="1157613" y="0"/>
                    <a:pt x="1166382" y="3632"/>
                    <a:pt x="1172847" y="10097"/>
                  </a:cubicBezTo>
                  <a:cubicBezTo>
                    <a:pt x="1179312" y="16562"/>
                    <a:pt x="1182944" y="25331"/>
                    <a:pt x="1182944" y="3447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57150"/>
              <a:ext cx="1182944" cy="213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001521" y="7535425"/>
            <a:ext cx="4491490" cy="502863"/>
            <a:chOff x="0" y="0"/>
            <a:chExt cx="1182944" cy="13240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82944" cy="132403"/>
            </a:xfrm>
            <a:custGeom>
              <a:avLst/>
              <a:gdLst/>
              <a:ahLst/>
              <a:cxnLst/>
              <a:rect r="r" b="b" t="t" l="l"/>
              <a:pathLst>
                <a:path h="132403" w="1182944">
                  <a:moveTo>
                    <a:pt x="1182944" y="34474"/>
                  </a:moveTo>
                  <a:lnTo>
                    <a:pt x="1182944" y="97930"/>
                  </a:lnTo>
                  <a:cubicBezTo>
                    <a:pt x="1182944" y="116969"/>
                    <a:pt x="1167510" y="132403"/>
                    <a:pt x="1148470" y="132403"/>
                  </a:cubicBezTo>
                  <a:lnTo>
                    <a:pt x="34474" y="132403"/>
                  </a:lnTo>
                  <a:cubicBezTo>
                    <a:pt x="25331" y="132403"/>
                    <a:pt x="16562" y="128771"/>
                    <a:pt x="10097" y="122306"/>
                  </a:cubicBezTo>
                  <a:cubicBezTo>
                    <a:pt x="3632" y="115841"/>
                    <a:pt x="0" y="107073"/>
                    <a:pt x="0" y="97930"/>
                  </a:cubicBezTo>
                  <a:lnTo>
                    <a:pt x="0" y="34474"/>
                  </a:lnTo>
                  <a:cubicBezTo>
                    <a:pt x="0" y="25331"/>
                    <a:pt x="3632" y="16562"/>
                    <a:pt x="10097" y="10097"/>
                  </a:cubicBezTo>
                  <a:cubicBezTo>
                    <a:pt x="16562" y="3632"/>
                    <a:pt x="25331" y="0"/>
                    <a:pt x="34474" y="0"/>
                  </a:cubicBezTo>
                  <a:lnTo>
                    <a:pt x="1148470" y="0"/>
                  </a:lnTo>
                  <a:cubicBezTo>
                    <a:pt x="1157613" y="0"/>
                    <a:pt x="1166382" y="3632"/>
                    <a:pt x="1172847" y="10097"/>
                  </a:cubicBezTo>
                  <a:cubicBezTo>
                    <a:pt x="1179312" y="16562"/>
                    <a:pt x="1182944" y="25331"/>
                    <a:pt x="1182944" y="3447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24706"/>
                </a:srgbClr>
              </a:solidFill>
              <a:prstDash val="lgDash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1182944" cy="18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001521" y="8295463"/>
            <a:ext cx="4491490" cy="517308"/>
            <a:chOff x="0" y="0"/>
            <a:chExt cx="1182944" cy="13620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82944" cy="136207"/>
            </a:xfrm>
            <a:custGeom>
              <a:avLst/>
              <a:gdLst/>
              <a:ahLst/>
              <a:cxnLst/>
              <a:rect r="r" b="b" t="t" l="l"/>
              <a:pathLst>
                <a:path h="136207" w="1182944">
                  <a:moveTo>
                    <a:pt x="1182944" y="34474"/>
                  </a:moveTo>
                  <a:lnTo>
                    <a:pt x="1182944" y="101733"/>
                  </a:lnTo>
                  <a:cubicBezTo>
                    <a:pt x="1182944" y="110876"/>
                    <a:pt x="1179312" y="119644"/>
                    <a:pt x="1172847" y="126110"/>
                  </a:cubicBezTo>
                  <a:cubicBezTo>
                    <a:pt x="1166382" y="132575"/>
                    <a:pt x="1157613" y="136207"/>
                    <a:pt x="1148470" y="136207"/>
                  </a:cubicBezTo>
                  <a:lnTo>
                    <a:pt x="34474" y="136207"/>
                  </a:lnTo>
                  <a:cubicBezTo>
                    <a:pt x="15434" y="136207"/>
                    <a:pt x="0" y="120772"/>
                    <a:pt x="0" y="101733"/>
                  </a:cubicBezTo>
                  <a:lnTo>
                    <a:pt x="0" y="34474"/>
                  </a:lnTo>
                  <a:cubicBezTo>
                    <a:pt x="0" y="25331"/>
                    <a:pt x="3632" y="16562"/>
                    <a:pt x="10097" y="10097"/>
                  </a:cubicBezTo>
                  <a:cubicBezTo>
                    <a:pt x="16562" y="3632"/>
                    <a:pt x="25331" y="0"/>
                    <a:pt x="34474" y="0"/>
                  </a:cubicBezTo>
                  <a:lnTo>
                    <a:pt x="1148470" y="0"/>
                  </a:lnTo>
                  <a:cubicBezTo>
                    <a:pt x="1157613" y="0"/>
                    <a:pt x="1166382" y="3632"/>
                    <a:pt x="1172847" y="10097"/>
                  </a:cubicBezTo>
                  <a:cubicBezTo>
                    <a:pt x="1179312" y="16562"/>
                    <a:pt x="1182944" y="25331"/>
                    <a:pt x="1182944" y="34474"/>
                  </a:cubicBezTo>
                  <a:close/>
                </a:path>
              </a:pathLst>
            </a:custGeom>
            <a:solidFill>
              <a:srgbClr val="C2F6FF">
                <a:alpha val="24706"/>
              </a:srgbClr>
            </a:solidFill>
            <a:ln w="19050" cap="sq">
              <a:solidFill>
                <a:srgbClr val="000000">
                  <a:alpha val="24706"/>
                </a:srgbClr>
              </a:solidFill>
              <a:prstDash val="lgDash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1182944" cy="19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10118446" y="4650967"/>
            <a:ext cx="425357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0.5141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0027908" y="5649125"/>
            <a:ext cx="446510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0.5223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0120479" y="6627380"/>
            <a:ext cx="426495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0.5223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0107067" y="7527440"/>
            <a:ext cx="426495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0.6451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0107067" y="8294701"/>
            <a:ext cx="426495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0.6636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4656791" y="3647662"/>
            <a:ext cx="2854150" cy="661282"/>
            <a:chOff x="0" y="0"/>
            <a:chExt cx="751710" cy="17411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51710" cy="174115"/>
            </a:xfrm>
            <a:custGeom>
              <a:avLst/>
              <a:gdLst/>
              <a:ahLst/>
              <a:cxnLst/>
              <a:rect r="r" b="b" t="t" l="l"/>
              <a:pathLst>
                <a:path h="174115" w="751710">
                  <a:moveTo>
                    <a:pt x="751710" y="54250"/>
                  </a:moveTo>
                  <a:lnTo>
                    <a:pt x="751710" y="119865"/>
                  </a:lnTo>
                  <a:cubicBezTo>
                    <a:pt x="751710" y="134253"/>
                    <a:pt x="745995" y="148052"/>
                    <a:pt x="735821" y="158225"/>
                  </a:cubicBezTo>
                  <a:cubicBezTo>
                    <a:pt x="725647" y="168399"/>
                    <a:pt x="711848" y="174115"/>
                    <a:pt x="697460" y="174115"/>
                  </a:cubicBezTo>
                  <a:lnTo>
                    <a:pt x="54250" y="174115"/>
                  </a:lnTo>
                  <a:cubicBezTo>
                    <a:pt x="39862" y="174115"/>
                    <a:pt x="26063" y="168399"/>
                    <a:pt x="15890" y="158225"/>
                  </a:cubicBezTo>
                  <a:cubicBezTo>
                    <a:pt x="5716" y="148052"/>
                    <a:pt x="0" y="134253"/>
                    <a:pt x="0" y="119865"/>
                  </a:cubicBezTo>
                  <a:lnTo>
                    <a:pt x="0" y="54250"/>
                  </a:lnTo>
                  <a:cubicBezTo>
                    <a:pt x="0" y="39862"/>
                    <a:pt x="5716" y="26063"/>
                    <a:pt x="15890" y="15890"/>
                  </a:cubicBezTo>
                  <a:cubicBezTo>
                    <a:pt x="26063" y="5716"/>
                    <a:pt x="39862" y="0"/>
                    <a:pt x="54250" y="0"/>
                  </a:cubicBezTo>
                  <a:lnTo>
                    <a:pt x="697460" y="0"/>
                  </a:lnTo>
                  <a:cubicBezTo>
                    <a:pt x="727422" y="0"/>
                    <a:pt x="751710" y="24289"/>
                    <a:pt x="751710" y="54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15" id="115"/>
            <p:cNvSpPr txBox="true"/>
            <p:nvPr/>
          </p:nvSpPr>
          <p:spPr>
            <a:xfrm>
              <a:off x="0" y="-57150"/>
              <a:ext cx="751710" cy="231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16" id="116"/>
          <p:cNvSpPr txBox="true"/>
          <p:nvPr/>
        </p:nvSpPr>
        <p:spPr>
          <a:xfrm rot="0">
            <a:off x="14690323" y="3733846"/>
            <a:ext cx="278208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0.1182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14656791" y="5556951"/>
            <a:ext cx="2854150" cy="709790"/>
            <a:chOff x="0" y="0"/>
            <a:chExt cx="751710" cy="186887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1710" cy="186887"/>
            </a:xfrm>
            <a:custGeom>
              <a:avLst/>
              <a:gdLst/>
              <a:ahLst/>
              <a:cxnLst/>
              <a:rect r="r" b="b" t="t" l="l"/>
              <a:pathLst>
                <a:path h="186887" w="751710">
                  <a:moveTo>
                    <a:pt x="751710" y="54250"/>
                  </a:moveTo>
                  <a:lnTo>
                    <a:pt x="751710" y="132637"/>
                  </a:lnTo>
                  <a:cubicBezTo>
                    <a:pt x="751710" y="147025"/>
                    <a:pt x="745995" y="160824"/>
                    <a:pt x="735821" y="170997"/>
                  </a:cubicBezTo>
                  <a:cubicBezTo>
                    <a:pt x="725647" y="181171"/>
                    <a:pt x="711848" y="186887"/>
                    <a:pt x="697460" y="186887"/>
                  </a:cubicBezTo>
                  <a:lnTo>
                    <a:pt x="54250" y="186887"/>
                  </a:lnTo>
                  <a:cubicBezTo>
                    <a:pt x="39862" y="186887"/>
                    <a:pt x="26063" y="181171"/>
                    <a:pt x="15890" y="170997"/>
                  </a:cubicBezTo>
                  <a:cubicBezTo>
                    <a:pt x="5716" y="160824"/>
                    <a:pt x="0" y="147025"/>
                    <a:pt x="0" y="132637"/>
                  </a:cubicBezTo>
                  <a:lnTo>
                    <a:pt x="0" y="54250"/>
                  </a:lnTo>
                  <a:cubicBezTo>
                    <a:pt x="0" y="39862"/>
                    <a:pt x="5716" y="26063"/>
                    <a:pt x="15890" y="15890"/>
                  </a:cubicBezTo>
                  <a:cubicBezTo>
                    <a:pt x="26063" y="5716"/>
                    <a:pt x="39862" y="0"/>
                    <a:pt x="54250" y="0"/>
                  </a:cubicBezTo>
                  <a:lnTo>
                    <a:pt x="697460" y="0"/>
                  </a:lnTo>
                  <a:cubicBezTo>
                    <a:pt x="727422" y="0"/>
                    <a:pt x="751710" y="24289"/>
                    <a:pt x="751710" y="54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57150"/>
              <a:ext cx="751710" cy="244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664021" y="4572998"/>
            <a:ext cx="2853940" cy="666552"/>
            <a:chOff x="0" y="0"/>
            <a:chExt cx="751655" cy="175503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51655" cy="175503"/>
            </a:xfrm>
            <a:custGeom>
              <a:avLst/>
              <a:gdLst/>
              <a:ahLst/>
              <a:cxnLst/>
              <a:rect r="r" b="b" t="t" l="l"/>
              <a:pathLst>
                <a:path h="175503" w="751655">
                  <a:moveTo>
                    <a:pt x="751655" y="54254"/>
                  </a:moveTo>
                  <a:lnTo>
                    <a:pt x="751655" y="121248"/>
                  </a:lnTo>
                  <a:cubicBezTo>
                    <a:pt x="751655" y="151212"/>
                    <a:pt x="727364" y="175503"/>
                    <a:pt x="697401" y="175503"/>
                  </a:cubicBezTo>
                  <a:lnTo>
                    <a:pt x="54254" y="175503"/>
                  </a:lnTo>
                  <a:cubicBezTo>
                    <a:pt x="39865" y="175503"/>
                    <a:pt x="26065" y="169787"/>
                    <a:pt x="15891" y="159612"/>
                  </a:cubicBezTo>
                  <a:cubicBezTo>
                    <a:pt x="5716" y="149437"/>
                    <a:pt x="0" y="135637"/>
                    <a:pt x="0" y="121248"/>
                  </a:cubicBezTo>
                  <a:lnTo>
                    <a:pt x="0" y="54254"/>
                  </a:lnTo>
                  <a:cubicBezTo>
                    <a:pt x="0" y="39865"/>
                    <a:pt x="5716" y="26065"/>
                    <a:pt x="15891" y="15891"/>
                  </a:cubicBezTo>
                  <a:cubicBezTo>
                    <a:pt x="26065" y="5716"/>
                    <a:pt x="39865" y="0"/>
                    <a:pt x="54254" y="0"/>
                  </a:cubicBezTo>
                  <a:lnTo>
                    <a:pt x="697401" y="0"/>
                  </a:lnTo>
                  <a:cubicBezTo>
                    <a:pt x="711790" y="0"/>
                    <a:pt x="725590" y="5716"/>
                    <a:pt x="735764" y="15891"/>
                  </a:cubicBezTo>
                  <a:cubicBezTo>
                    <a:pt x="745939" y="26065"/>
                    <a:pt x="751655" y="39865"/>
                    <a:pt x="751655" y="5425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57150"/>
              <a:ext cx="751655" cy="232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656791" y="6579755"/>
            <a:ext cx="2853940" cy="604557"/>
            <a:chOff x="0" y="0"/>
            <a:chExt cx="751655" cy="15917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51655" cy="159179"/>
            </a:xfrm>
            <a:custGeom>
              <a:avLst/>
              <a:gdLst/>
              <a:ahLst/>
              <a:cxnLst/>
              <a:rect r="r" b="b" t="t" l="l"/>
              <a:pathLst>
                <a:path h="159179" w="751655">
                  <a:moveTo>
                    <a:pt x="751655" y="54254"/>
                  </a:moveTo>
                  <a:lnTo>
                    <a:pt x="751655" y="104925"/>
                  </a:lnTo>
                  <a:cubicBezTo>
                    <a:pt x="751655" y="134889"/>
                    <a:pt x="727364" y="159179"/>
                    <a:pt x="697401" y="159179"/>
                  </a:cubicBezTo>
                  <a:lnTo>
                    <a:pt x="54254" y="159179"/>
                  </a:lnTo>
                  <a:cubicBezTo>
                    <a:pt x="39865" y="159179"/>
                    <a:pt x="26065" y="153463"/>
                    <a:pt x="15891" y="143288"/>
                  </a:cubicBezTo>
                  <a:cubicBezTo>
                    <a:pt x="5716" y="133114"/>
                    <a:pt x="0" y="119314"/>
                    <a:pt x="0" y="104925"/>
                  </a:cubicBezTo>
                  <a:lnTo>
                    <a:pt x="0" y="54254"/>
                  </a:lnTo>
                  <a:cubicBezTo>
                    <a:pt x="0" y="39865"/>
                    <a:pt x="5716" y="26065"/>
                    <a:pt x="15891" y="15891"/>
                  </a:cubicBezTo>
                  <a:cubicBezTo>
                    <a:pt x="26065" y="5716"/>
                    <a:pt x="39865" y="0"/>
                    <a:pt x="54254" y="0"/>
                  </a:cubicBezTo>
                  <a:lnTo>
                    <a:pt x="697401" y="0"/>
                  </a:lnTo>
                  <a:cubicBezTo>
                    <a:pt x="711790" y="0"/>
                    <a:pt x="725590" y="5716"/>
                    <a:pt x="735764" y="15891"/>
                  </a:cubicBezTo>
                  <a:cubicBezTo>
                    <a:pt x="745939" y="26065"/>
                    <a:pt x="751655" y="39865"/>
                    <a:pt x="751655" y="5425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57150"/>
              <a:ext cx="751655" cy="216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4656791" y="7525900"/>
            <a:ext cx="2853940" cy="502863"/>
            <a:chOff x="0" y="0"/>
            <a:chExt cx="751655" cy="13240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51655" cy="132403"/>
            </a:xfrm>
            <a:custGeom>
              <a:avLst/>
              <a:gdLst/>
              <a:ahLst/>
              <a:cxnLst/>
              <a:rect r="r" b="b" t="t" l="l"/>
              <a:pathLst>
                <a:path h="132403" w="751655">
                  <a:moveTo>
                    <a:pt x="751655" y="54254"/>
                  </a:moveTo>
                  <a:lnTo>
                    <a:pt x="751655" y="78149"/>
                  </a:lnTo>
                  <a:cubicBezTo>
                    <a:pt x="751655" y="92538"/>
                    <a:pt x="745939" y="106338"/>
                    <a:pt x="735764" y="116513"/>
                  </a:cubicBezTo>
                  <a:cubicBezTo>
                    <a:pt x="725590" y="126687"/>
                    <a:pt x="711790" y="132403"/>
                    <a:pt x="697401" y="132403"/>
                  </a:cubicBezTo>
                  <a:lnTo>
                    <a:pt x="54254" y="132403"/>
                  </a:lnTo>
                  <a:cubicBezTo>
                    <a:pt x="39865" y="132403"/>
                    <a:pt x="26065" y="126687"/>
                    <a:pt x="15891" y="116513"/>
                  </a:cubicBezTo>
                  <a:cubicBezTo>
                    <a:pt x="5716" y="106338"/>
                    <a:pt x="0" y="92538"/>
                    <a:pt x="0" y="78149"/>
                  </a:cubicBezTo>
                  <a:lnTo>
                    <a:pt x="0" y="54254"/>
                  </a:lnTo>
                  <a:cubicBezTo>
                    <a:pt x="0" y="39865"/>
                    <a:pt x="5716" y="26065"/>
                    <a:pt x="15891" y="15891"/>
                  </a:cubicBezTo>
                  <a:cubicBezTo>
                    <a:pt x="26065" y="5716"/>
                    <a:pt x="39865" y="0"/>
                    <a:pt x="54254" y="0"/>
                  </a:cubicBezTo>
                  <a:lnTo>
                    <a:pt x="697401" y="0"/>
                  </a:lnTo>
                  <a:cubicBezTo>
                    <a:pt x="711790" y="0"/>
                    <a:pt x="725590" y="5716"/>
                    <a:pt x="735764" y="15891"/>
                  </a:cubicBezTo>
                  <a:cubicBezTo>
                    <a:pt x="745939" y="26065"/>
                    <a:pt x="751655" y="39865"/>
                    <a:pt x="751655" y="5425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24706"/>
                </a:srgbClr>
              </a:solidFill>
              <a:prstDash val="lgDash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0" y="-57150"/>
              <a:ext cx="751655" cy="18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4656791" y="8285938"/>
            <a:ext cx="2853940" cy="517308"/>
            <a:chOff x="0" y="0"/>
            <a:chExt cx="751655" cy="13620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51655" cy="136207"/>
            </a:xfrm>
            <a:custGeom>
              <a:avLst/>
              <a:gdLst/>
              <a:ahLst/>
              <a:cxnLst/>
              <a:rect r="r" b="b" t="t" l="l"/>
              <a:pathLst>
                <a:path h="136207" w="751655">
                  <a:moveTo>
                    <a:pt x="751655" y="54254"/>
                  </a:moveTo>
                  <a:lnTo>
                    <a:pt x="751655" y="81952"/>
                  </a:lnTo>
                  <a:cubicBezTo>
                    <a:pt x="751655" y="96341"/>
                    <a:pt x="745939" y="110141"/>
                    <a:pt x="735764" y="120316"/>
                  </a:cubicBezTo>
                  <a:cubicBezTo>
                    <a:pt x="725590" y="130491"/>
                    <a:pt x="711790" y="136207"/>
                    <a:pt x="697401" y="136207"/>
                  </a:cubicBezTo>
                  <a:lnTo>
                    <a:pt x="54254" y="136207"/>
                  </a:lnTo>
                  <a:cubicBezTo>
                    <a:pt x="24290" y="136207"/>
                    <a:pt x="0" y="111916"/>
                    <a:pt x="0" y="81952"/>
                  </a:cubicBezTo>
                  <a:lnTo>
                    <a:pt x="0" y="54254"/>
                  </a:lnTo>
                  <a:cubicBezTo>
                    <a:pt x="0" y="39865"/>
                    <a:pt x="5716" y="26065"/>
                    <a:pt x="15891" y="15891"/>
                  </a:cubicBezTo>
                  <a:cubicBezTo>
                    <a:pt x="26065" y="5716"/>
                    <a:pt x="39865" y="0"/>
                    <a:pt x="54254" y="0"/>
                  </a:cubicBezTo>
                  <a:lnTo>
                    <a:pt x="697401" y="0"/>
                  </a:lnTo>
                  <a:cubicBezTo>
                    <a:pt x="711790" y="0"/>
                    <a:pt x="725590" y="5716"/>
                    <a:pt x="735764" y="15891"/>
                  </a:cubicBezTo>
                  <a:cubicBezTo>
                    <a:pt x="745939" y="26065"/>
                    <a:pt x="751655" y="39865"/>
                    <a:pt x="751655" y="54254"/>
                  </a:cubicBezTo>
                  <a:close/>
                </a:path>
              </a:pathLst>
            </a:custGeom>
            <a:solidFill>
              <a:srgbClr val="C2F6FF">
                <a:alpha val="24706"/>
              </a:srgbClr>
            </a:solidFill>
            <a:ln w="19050" cap="sq">
              <a:solidFill>
                <a:srgbClr val="000000">
                  <a:alpha val="24706"/>
                </a:srgbClr>
              </a:solidFill>
              <a:prstDash val="lgDash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0" y="-57150"/>
              <a:ext cx="751655" cy="19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TextBox 132" id="132"/>
          <p:cNvSpPr txBox="true"/>
          <p:nvPr/>
        </p:nvSpPr>
        <p:spPr>
          <a:xfrm rot="0">
            <a:off x="14731086" y="4641442"/>
            <a:ext cx="2666041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0.1182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4704872" y="5639452"/>
            <a:ext cx="279862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0.1177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4769236" y="6616972"/>
            <a:ext cx="267317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0.1177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4723856" y="7517915"/>
            <a:ext cx="267317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0.0992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4723856" y="8285176"/>
            <a:ext cx="267317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>
                    <a:alpha val="24706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0.0907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43236" y="9517457"/>
            <a:ext cx="1113253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10/16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Keterbasana Baseline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5271" y="1143769"/>
            <a:ext cx="7885453" cy="636994"/>
            <a:chOff x="0" y="0"/>
            <a:chExt cx="10513937" cy="84932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45127" cy="849325"/>
              <a:chOff x="0" y="0"/>
              <a:chExt cx="28667" cy="16776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8667" cy="167768"/>
              </a:xfrm>
              <a:custGeom>
                <a:avLst/>
                <a:gdLst/>
                <a:ahLst/>
                <a:cxnLst/>
                <a:rect r="r" b="b" t="t" l="l"/>
                <a:pathLst>
                  <a:path h="167768" w="28667">
                    <a:moveTo>
                      <a:pt x="0" y="0"/>
                    </a:moveTo>
                    <a:lnTo>
                      <a:pt x="28667" y="0"/>
                    </a:lnTo>
                    <a:lnTo>
                      <a:pt x="28667" y="167768"/>
                    </a:lnTo>
                    <a:lnTo>
                      <a:pt x="0" y="167768"/>
                    </a:ln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8667" cy="2058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03270" y="3482"/>
              <a:ext cx="10210668" cy="845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53"/>
                </a:lnSpc>
                <a:spcBef>
                  <a:spcPct val="0"/>
                </a:spcBef>
              </a:pPr>
              <a:r>
                <a:rPr lang="en-US" b="true" sz="3466">
                  <a:solidFill>
                    <a:srgbClr val="04375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Keterbatasan Model Baseline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134475" y="150497"/>
            <a:ext cx="3830986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52834" y="2178778"/>
            <a:ext cx="9039327" cy="1915342"/>
            <a:chOff x="0" y="0"/>
            <a:chExt cx="12052436" cy="2553790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123825"/>
              <a:ext cx="9284343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</a:t>
              </a:r>
              <a:r>
                <a:rPr lang="en-US" b="true" sz="3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ehilangan Konteks/Makna Struktural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775789" y="827580"/>
              <a:ext cx="11276648" cy="1726209"/>
              <a:chOff x="0" y="0"/>
              <a:chExt cx="2227486" cy="34088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227486" cy="340882"/>
              </a:xfrm>
              <a:custGeom>
                <a:avLst/>
                <a:gdLst/>
                <a:ahLst/>
                <a:cxnLst/>
                <a:rect r="r" b="b" t="t" l="l"/>
                <a:pathLst>
                  <a:path h="340882" w="2227486">
                    <a:moveTo>
                      <a:pt x="2227486" y="13731"/>
                    </a:moveTo>
                    <a:lnTo>
                      <a:pt x="2227486" y="327151"/>
                    </a:lnTo>
                    <a:cubicBezTo>
                      <a:pt x="2227486" y="330793"/>
                      <a:pt x="2226039" y="334285"/>
                      <a:pt x="2223464" y="336860"/>
                    </a:cubicBezTo>
                    <a:cubicBezTo>
                      <a:pt x="2220889" y="339435"/>
                      <a:pt x="2217397" y="340882"/>
                      <a:pt x="2213755" y="340882"/>
                    </a:cubicBezTo>
                    <a:lnTo>
                      <a:pt x="13731" y="340882"/>
                    </a:lnTo>
                    <a:cubicBezTo>
                      <a:pt x="10089" y="340882"/>
                      <a:pt x="6597" y="339435"/>
                      <a:pt x="4022" y="336860"/>
                    </a:cubicBezTo>
                    <a:cubicBezTo>
                      <a:pt x="1447" y="334285"/>
                      <a:pt x="0" y="330793"/>
                      <a:pt x="0" y="327151"/>
                    </a:cubicBezTo>
                    <a:lnTo>
                      <a:pt x="0" y="13731"/>
                    </a:lnTo>
                    <a:cubicBezTo>
                      <a:pt x="0" y="10089"/>
                      <a:pt x="1447" y="6597"/>
                      <a:pt x="4022" y="4022"/>
                    </a:cubicBezTo>
                    <a:cubicBezTo>
                      <a:pt x="6597" y="1447"/>
                      <a:pt x="10089" y="0"/>
                      <a:pt x="13731" y="0"/>
                    </a:cubicBezTo>
                    <a:lnTo>
                      <a:pt x="2213755" y="0"/>
                    </a:lnTo>
                    <a:cubicBezTo>
                      <a:pt x="2217397" y="0"/>
                      <a:pt x="2220889" y="1447"/>
                      <a:pt x="2223464" y="4022"/>
                    </a:cubicBezTo>
                    <a:cubicBezTo>
                      <a:pt x="2226039" y="6597"/>
                      <a:pt x="2227486" y="10089"/>
                      <a:pt x="2227486" y="13731"/>
                    </a:cubicBezTo>
                    <a:close/>
                  </a:path>
                </a:pathLst>
              </a:custGeom>
              <a:solidFill>
                <a:srgbClr val="FFFFFE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227486" cy="3789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912605" y="1049331"/>
              <a:ext cx="10889528" cy="1303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99"/>
                </a:lnSpc>
              </a:pPr>
              <a:r>
                <a:rPr lang="en-US" sz="24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Urutan kata diabaikan. Kalimat "</a:t>
              </a:r>
              <a:r>
                <a:rPr lang="en-US" sz="2499">
                  <a:solidFill>
                    <a:srgbClr val="F0810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pahlawan mengejar penjahat</a:t>
              </a:r>
              <a:r>
                <a:rPr lang="en-US" sz="24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" dan "</a:t>
              </a:r>
              <a:r>
                <a:rPr lang="en-US" sz="2499">
                  <a:solidFill>
                    <a:srgbClr val="F0810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penjahat mengejar pahlawan</a:t>
              </a:r>
              <a:r>
                <a:rPr lang="en-US" sz="24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" akan terlihat sangat mirip bagi model, padahal maknanya bisa sangat berbeda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121871" y="2035903"/>
            <a:ext cx="1999373" cy="66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F0810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Sehingga: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121871" y="2761992"/>
            <a:ext cx="7377992" cy="3046576"/>
            <a:chOff x="0" y="0"/>
            <a:chExt cx="1943175" cy="80216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43175" cy="802161"/>
            </a:xfrm>
            <a:custGeom>
              <a:avLst/>
              <a:gdLst/>
              <a:ahLst/>
              <a:cxnLst/>
              <a:rect r="r" b="b" t="t" l="l"/>
              <a:pathLst>
                <a:path h="802161" w="1943175">
                  <a:moveTo>
                    <a:pt x="1943175" y="15740"/>
                  </a:moveTo>
                  <a:lnTo>
                    <a:pt x="1943175" y="786421"/>
                  </a:lnTo>
                  <a:cubicBezTo>
                    <a:pt x="1943175" y="790595"/>
                    <a:pt x="1941517" y="794599"/>
                    <a:pt x="1938565" y="797551"/>
                  </a:cubicBezTo>
                  <a:cubicBezTo>
                    <a:pt x="1935613" y="800502"/>
                    <a:pt x="1931609" y="802161"/>
                    <a:pt x="1927435" y="802161"/>
                  </a:cubicBezTo>
                  <a:lnTo>
                    <a:pt x="15740" y="802161"/>
                  </a:lnTo>
                  <a:cubicBezTo>
                    <a:pt x="11565" y="802161"/>
                    <a:pt x="7562" y="800502"/>
                    <a:pt x="4610" y="797551"/>
                  </a:cubicBezTo>
                  <a:cubicBezTo>
                    <a:pt x="1658" y="794599"/>
                    <a:pt x="0" y="790595"/>
                    <a:pt x="0" y="786421"/>
                  </a:cubicBezTo>
                  <a:lnTo>
                    <a:pt x="0" y="15740"/>
                  </a:lnTo>
                  <a:cubicBezTo>
                    <a:pt x="0" y="11565"/>
                    <a:pt x="1658" y="7562"/>
                    <a:pt x="4610" y="4610"/>
                  </a:cubicBezTo>
                  <a:cubicBezTo>
                    <a:pt x="7562" y="1658"/>
                    <a:pt x="11565" y="0"/>
                    <a:pt x="15740" y="0"/>
                  </a:cubicBezTo>
                  <a:lnTo>
                    <a:pt x="1927435" y="0"/>
                  </a:lnTo>
                  <a:cubicBezTo>
                    <a:pt x="1936128" y="0"/>
                    <a:pt x="1943175" y="7047"/>
                    <a:pt x="1943175" y="15740"/>
                  </a:cubicBezTo>
                  <a:close/>
                </a:path>
              </a:pathLst>
            </a:custGeom>
            <a:solidFill>
              <a:srgbClr val="FFFFFE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943175" cy="840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121871" y="3897219"/>
            <a:ext cx="7124711" cy="191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2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baseline (SVC + TF-IDF) terbatas karena hanya mampu mencocokkan kata kunci, bukan memahami makna cerita.</a:t>
            </a:r>
          </a:p>
          <a:p>
            <a:pPr algn="just" marL="539749" indent="-269875" lvl="1">
              <a:lnSpc>
                <a:spcPts val="2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rekomendasi sering kurang relevan akibat kegagalan memahami konteks, sinonim, dan struktur kalimat.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121871" y="6265736"/>
            <a:ext cx="7377992" cy="2449709"/>
            <a:chOff x="0" y="0"/>
            <a:chExt cx="1943175" cy="6450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43175" cy="645006"/>
            </a:xfrm>
            <a:custGeom>
              <a:avLst/>
              <a:gdLst/>
              <a:ahLst/>
              <a:cxnLst/>
              <a:rect r="r" b="b" t="t" l="l"/>
              <a:pathLst>
                <a:path h="645006" w="1943175">
                  <a:moveTo>
                    <a:pt x="1943175" y="15740"/>
                  </a:moveTo>
                  <a:lnTo>
                    <a:pt x="1943175" y="629266"/>
                  </a:lnTo>
                  <a:cubicBezTo>
                    <a:pt x="1943175" y="633441"/>
                    <a:pt x="1941517" y="637444"/>
                    <a:pt x="1938565" y="640396"/>
                  </a:cubicBezTo>
                  <a:cubicBezTo>
                    <a:pt x="1935613" y="643348"/>
                    <a:pt x="1931609" y="645006"/>
                    <a:pt x="1927435" y="645006"/>
                  </a:cubicBezTo>
                  <a:lnTo>
                    <a:pt x="15740" y="645006"/>
                  </a:lnTo>
                  <a:cubicBezTo>
                    <a:pt x="11565" y="645006"/>
                    <a:pt x="7562" y="643348"/>
                    <a:pt x="4610" y="640396"/>
                  </a:cubicBezTo>
                  <a:cubicBezTo>
                    <a:pt x="1658" y="637444"/>
                    <a:pt x="0" y="633441"/>
                    <a:pt x="0" y="629266"/>
                  </a:cubicBezTo>
                  <a:lnTo>
                    <a:pt x="0" y="15740"/>
                  </a:lnTo>
                  <a:cubicBezTo>
                    <a:pt x="0" y="11565"/>
                    <a:pt x="1658" y="7562"/>
                    <a:pt x="4610" y="4610"/>
                  </a:cubicBezTo>
                  <a:cubicBezTo>
                    <a:pt x="7562" y="1658"/>
                    <a:pt x="11565" y="0"/>
                    <a:pt x="15740" y="0"/>
                  </a:cubicBezTo>
                  <a:lnTo>
                    <a:pt x="1927435" y="0"/>
                  </a:lnTo>
                  <a:cubicBezTo>
                    <a:pt x="1936128" y="0"/>
                    <a:pt x="1943175" y="7047"/>
                    <a:pt x="1943175" y="15740"/>
                  </a:cubicBezTo>
                  <a:close/>
                </a:path>
              </a:pathLst>
            </a:custGeom>
            <a:solidFill>
              <a:srgbClr val="FFFFFE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943175" cy="683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222336" y="6443134"/>
            <a:ext cx="712471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 sinilah kita perlu pemahaman yang lebih dalam, Kenapa?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22336" y="2906619"/>
            <a:ext cx="712471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Pendekatan klasik dengan TF-IDF masih belum optimal.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21871" y="7319434"/>
            <a:ext cx="7124711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2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opsis film seringkali ambigu, penuh nuansa, dan maknanya sangat bergantung pada urutan kata .</a:t>
            </a:r>
          </a:p>
          <a:p>
            <a:pPr algn="just" marL="539749" indent="-269875" lvl="1">
              <a:lnSpc>
                <a:spcPts val="2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Kata kunci saja tidak cukup, model harus memahami tema dan alur cerita secara keseluruhan.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2336" y="8697384"/>
            <a:ext cx="7124711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4375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LET</a:t>
            </a:r>
            <a:r>
              <a:rPr lang="en-US" b="true" sz="3500">
                <a:solidFill>
                  <a:srgbClr val="04375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BERT COOK! 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52834" y="4350394"/>
            <a:ext cx="9039327" cy="1915342"/>
            <a:chOff x="0" y="0"/>
            <a:chExt cx="12052436" cy="2553790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-123825"/>
              <a:ext cx="9284343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But</a:t>
              </a:r>
              <a:r>
                <a:rPr lang="en-US" b="true" sz="3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 Terhadap Sinonim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775789" y="827580"/>
              <a:ext cx="11276648" cy="1726209"/>
              <a:chOff x="0" y="0"/>
              <a:chExt cx="2227486" cy="34088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227486" cy="340882"/>
              </a:xfrm>
              <a:custGeom>
                <a:avLst/>
                <a:gdLst/>
                <a:ahLst/>
                <a:cxnLst/>
                <a:rect r="r" b="b" t="t" l="l"/>
                <a:pathLst>
                  <a:path h="340882" w="2227486">
                    <a:moveTo>
                      <a:pt x="2227486" y="13731"/>
                    </a:moveTo>
                    <a:lnTo>
                      <a:pt x="2227486" y="327151"/>
                    </a:lnTo>
                    <a:cubicBezTo>
                      <a:pt x="2227486" y="330793"/>
                      <a:pt x="2226039" y="334285"/>
                      <a:pt x="2223464" y="336860"/>
                    </a:cubicBezTo>
                    <a:cubicBezTo>
                      <a:pt x="2220889" y="339435"/>
                      <a:pt x="2217397" y="340882"/>
                      <a:pt x="2213755" y="340882"/>
                    </a:cubicBezTo>
                    <a:lnTo>
                      <a:pt x="13731" y="340882"/>
                    </a:lnTo>
                    <a:cubicBezTo>
                      <a:pt x="10089" y="340882"/>
                      <a:pt x="6597" y="339435"/>
                      <a:pt x="4022" y="336860"/>
                    </a:cubicBezTo>
                    <a:cubicBezTo>
                      <a:pt x="1447" y="334285"/>
                      <a:pt x="0" y="330793"/>
                      <a:pt x="0" y="327151"/>
                    </a:cubicBezTo>
                    <a:lnTo>
                      <a:pt x="0" y="13731"/>
                    </a:lnTo>
                    <a:cubicBezTo>
                      <a:pt x="0" y="10089"/>
                      <a:pt x="1447" y="6597"/>
                      <a:pt x="4022" y="4022"/>
                    </a:cubicBezTo>
                    <a:cubicBezTo>
                      <a:pt x="6597" y="1447"/>
                      <a:pt x="10089" y="0"/>
                      <a:pt x="13731" y="0"/>
                    </a:cubicBezTo>
                    <a:lnTo>
                      <a:pt x="2213755" y="0"/>
                    </a:lnTo>
                    <a:cubicBezTo>
                      <a:pt x="2217397" y="0"/>
                      <a:pt x="2220889" y="1447"/>
                      <a:pt x="2223464" y="4022"/>
                    </a:cubicBezTo>
                    <a:cubicBezTo>
                      <a:pt x="2226039" y="6597"/>
                      <a:pt x="2227486" y="10089"/>
                      <a:pt x="2227486" y="13731"/>
                    </a:cubicBezTo>
                    <a:close/>
                  </a:path>
                </a:pathLst>
              </a:custGeom>
              <a:solidFill>
                <a:srgbClr val="FFFFFE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2227486" cy="3789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912605" y="1049331"/>
              <a:ext cx="10889528" cy="1303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99"/>
                </a:lnSpc>
              </a:pPr>
              <a:r>
                <a:rPr lang="en-US" sz="24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tidak tahu bahwa kata</a:t>
              </a:r>
              <a:r>
                <a:rPr lang="en-US" sz="2499">
                  <a:solidFill>
                    <a:srgbClr val="F0810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"mobil", "kendaraan", dan "oto"</a:t>
              </a:r>
              <a:r>
                <a:rPr lang="en-US" sz="24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merujuk pada konsep yang sama. Ketiganya dianggap sebagai tiga kata yang sama sekali tidak berhubungan.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352834" y="6399086"/>
            <a:ext cx="696325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Pemah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aman Teks Masih Dangkal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34676" y="7143596"/>
            <a:ext cx="8457486" cy="1560073"/>
            <a:chOff x="0" y="0"/>
            <a:chExt cx="2227486" cy="41076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27486" cy="410766"/>
            </a:xfrm>
            <a:custGeom>
              <a:avLst/>
              <a:gdLst/>
              <a:ahLst/>
              <a:cxnLst/>
              <a:rect r="r" b="b" t="t" l="l"/>
              <a:pathLst>
                <a:path h="410766" w="2227486">
                  <a:moveTo>
                    <a:pt x="2227486" y="13731"/>
                  </a:moveTo>
                  <a:lnTo>
                    <a:pt x="2227486" y="397035"/>
                  </a:lnTo>
                  <a:cubicBezTo>
                    <a:pt x="2227486" y="400677"/>
                    <a:pt x="2226039" y="404169"/>
                    <a:pt x="2223464" y="406744"/>
                  </a:cubicBezTo>
                  <a:cubicBezTo>
                    <a:pt x="2220889" y="409319"/>
                    <a:pt x="2217397" y="410766"/>
                    <a:pt x="2213755" y="410766"/>
                  </a:cubicBezTo>
                  <a:lnTo>
                    <a:pt x="13731" y="410766"/>
                  </a:lnTo>
                  <a:cubicBezTo>
                    <a:pt x="10089" y="410766"/>
                    <a:pt x="6597" y="409319"/>
                    <a:pt x="4022" y="406744"/>
                  </a:cubicBezTo>
                  <a:cubicBezTo>
                    <a:pt x="1447" y="404169"/>
                    <a:pt x="0" y="400677"/>
                    <a:pt x="0" y="397035"/>
                  </a:cubicBezTo>
                  <a:lnTo>
                    <a:pt x="0" y="13731"/>
                  </a:lnTo>
                  <a:cubicBezTo>
                    <a:pt x="0" y="10089"/>
                    <a:pt x="1447" y="6597"/>
                    <a:pt x="4022" y="4022"/>
                  </a:cubicBezTo>
                  <a:cubicBezTo>
                    <a:pt x="6597" y="1447"/>
                    <a:pt x="10089" y="0"/>
                    <a:pt x="13731" y="0"/>
                  </a:cubicBezTo>
                  <a:lnTo>
                    <a:pt x="2213755" y="0"/>
                  </a:lnTo>
                  <a:cubicBezTo>
                    <a:pt x="2217397" y="0"/>
                    <a:pt x="2220889" y="1447"/>
                    <a:pt x="2223464" y="4022"/>
                  </a:cubicBezTo>
                  <a:cubicBezTo>
                    <a:pt x="2226039" y="6597"/>
                    <a:pt x="2227486" y="10089"/>
                    <a:pt x="2227486" y="13731"/>
                  </a:cubicBezTo>
                  <a:close/>
                </a:path>
              </a:pathLst>
            </a:custGeom>
            <a:solidFill>
              <a:srgbClr val="FFFFFE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227486" cy="448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37288" y="7319434"/>
            <a:ext cx="8167146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Proses tuning tidak membuat model bisa mengerti konteks atau sinonim dal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 sinopsis. Model tetap kesulitan melihat hubungan yang rumit antar fitur. Ia </a:t>
            </a:r>
            <a:r>
              <a:rPr lang="en-US" sz="2499">
                <a:solidFill>
                  <a:srgbClr val="F081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hanya bisa menangkap pola "garis lurus"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sederhana.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1458" y="9517457"/>
            <a:ext cx="1021424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11/16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9312" y="9543787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Prediksi Genre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2723" y="1420843"/>
            <a:ext cx="7658001" cy="6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Eksperimen Model untuk Prediksi Genre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34475" y="150497"/>
            <a:ext cx="3830986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94116" y="2624344"/>
            <a:ext cx="16723845" cy="6188426"/>
            <a:chOff x="0" y="0"/>
            <a:chExt cx="22298460" cy="8251235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867029" cy="888737"/>
              <a:chOff x="0" y="0"/>
              <a:chExt cx="1158919" cy="17550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58919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58919">
                    <a:moveTo>
                      <a:pt x="1158919" y="26391"/>
                    </a:moveTo>
                    <a:lnTo>
                      <a:pt x="1158919" y="149111"/>
                    </a:lnTo>
                    <a:cubicBezTo>
                      <a:pt x="1158919" y="163687"/>
                      <a:pt x="1147104" y="175503"/>
                      <a:pt x="1132528" y="175503"/>
                    </a:cubicBezTo>
                    <a:lnTo>
                      <a:pt x="26391" y="175503"/>
                    </a:lnTo>
                    <a:cubicBezTo>
                      <a:pt x="11816" y="175503"/>
                      <a:pt x="0" y="163687"/>
                      <a:pt x="0" y="149111"/>
                    </a:cubicBezTo>
                    <a:lnTo>
                      <a:pt x="0" y="26391"/>
                    </a:lnTo>
                    <a:cubicBezTo>
                      <a:pt x="0" y="11816"/>
                      <a:pt x="11816" y="0"/>
                      <a:pt x="26391" y="0"/>
                    </a:cubicBezTo>
                    <a:lnTo>
                      <a:pt x="1132528" y="0"/>
                    </a:lnTo>
                    <a:cubicBezTo>
                      <a:pt x="1147104" y="0"/>
                      <a:pt x="1158919" y="11816"/>
                      <a:pt x="1158919" y="26391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1158919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6069514" y="0"/>
              <a:ext cx="6003826" cy="888737"/>
              <a:chOff x="0" y="0"/>
              <a:chExt cx="1185941" cy="17550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185941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85941">
                    <a:moveTo>
                      <a:pt x="1185941" y="34387"/>
                    </a:moveTo>
                    <a:lnTo>
                      <a:pt x="1185941" y="141116"/>
                    </a:lnTo>
                    <a:cubicBezTo>
                      <a:pt x="1185941" y="160107"/>
                      <a:pt x="1170546" y="175503"/>
                      <a:pt x="1151554" y="175503"/>
                    </a:cubicBezTo>
                    <a:lnTo>
                      <a:pt x="34387" y="175503"/>
                    </a:lnTo>
                    <a:cubicBezTo>
                      <a:pt x="15395" y="175503"/>
                      <a:pt x="0" y="160107"/>
                      <a:pt x="0" y="141116"/>
                    </a:cubicBezTo>
                    <a:lnTo>
                      <a:pt x="0" y="34387"/>
                    </a:lnTo>
                    <a:cubicBezTo>
                      <a:pt x="0" y="15395"/>
                      <a:pt x="15395" y="0"/>
                      <a:pt x="34387" y="0"/>
                    </a:cubicBezTo>
                    <a:lnTo>
                      <a:pt x="1151554" y="0"/>
                    </a:lnTo>
                    <a:cubicBezTo>
                      <a:pt x="1170546" y="0"/>
                      <a:pt x="1185941" y="15395"/>
                      <a:pt x="1185941" y="34387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1185941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74454" y="72893"/>
              <a:ext cx="5483781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Nama Model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302211" y="72893"/>
              <a:ext cx="5608969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Hyperparameter Tunning 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12276540" y="0"/>
              <a:ext cx="6003826" cy="888737"/>
              <a:chOff x="0" y="0"/>
              <a:chExt cx="1185941" cy="17550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185941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85941">
                    <a:moveTo>
                      <a:pt x="1185941" y="34387"/>
                    </a:moveTo>
                    <a:lnTo>
                      <a:pt x="1185941" y="141116"/>
                    </a:lnTo>
                    <a:cubicBezTo>
                      <a:pt x="1185941" y="160107"/>
                      <a:pt x="1170546" y="175503"/>
                      <a:pt x="1151554" y="175503"/>
                    </a:cubicBezTo>
                    <a:lnTo>
                      <a:pt x="34387" y="175503"/>
                    </a:lnTo>
                    <a:cubicBezTo>
                      <a:pt x="15395" y="175503"/>
                      <a:pt x="0" y="160107"/>
                      <a:pt x="0" y="141116"/>
                    </a:cubicBezTo>
                    <a:lnTo>
                      <a:pt x="0" y="34387"/>
                    </a:lnTo>
                    <a:cubicBezTo>
                      <a:pt x="0" y="15395"/>
                      <a:pt x="15395" y="0"/>
                      <a:pt x="34387" y="0"/>
                    </a:cubicBezTo>
                    <a:lnTo>
                      <a:pt x="1151554" y="0"/>
                    </a:lnTo>
                    <a:cubicBezTo>
                      <a:pt x="1170546" y="0"/>
                      <a:pt x="1185941" y="15395"/>
                      <a:pt x="1185941" y="34387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185941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2509237" y="72893"/>
              <a:ext cx="5608969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Micro Average F1-Score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18483566" y="0"/>
              <a:ext cx="3814894" cy="888737"/>
              <a:chOff x="0" y="0"/>
              <a:chExt cx="753559" cy="17550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753559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753559">
                    <a:moveTo>
                      <a:pt x="753559" y="54117"/>
                    </a:moveTo>
                    <a:lnTo>
                      <a:pt x="753559" y="121385"/>
                    </a:lnTo>
                    <a:cubicBezTo>
                      <a:pt x="753559" y="151274"/>
                      <a:pt x="729330" y="175503"/>
                      <a:pt x="699442" y="175503"/>
                    </a:cubicBezTo>
                    <a:lnTo>
                      <a:pt x="54117" y="175503"/>
                    </a:lnTo>
                    <a:cubicBezTo>
                      <a:pt x="39764" y="175503"/>
                      <a:pt x="25999" y="169801"/>
                      <a:pt x="15851" y="159652"/>
                    </a:cubicBezTo>
                    <a:cubicBezTo>
                      <a:pt x="5702" y="149503"/>
                      <a:pt x="0" y="135738"/>
                      <a:pt x="0" y="121385"/>
                    </a:cubicBezTo>
                    <a:lnTo>
                      <a:pt x="0" y="54117"/>
                    </a:lnTo>
                    <a:cubicBezTo>
                      <a:pt x="0" y="39764"/>
                      <a:pt x="5702" y="25999"/>
                      <a:pt x="15851" y="15851"/>
                    </a:cubicBezTo>
                    <a:cubicBezTo>
                      <a:pt x="25999" y="5702"/>
                      <a:pt x="39764" y="0"/>
                      <a:pt x="54117" y="0"/>
                    </a:cubicBezTo>
                    <a:lnTo>
                      <a:pt x="699442" y="0"/>
                    </a:lnTo>
                    <a:cubicBezTo>
                      <a:pt x="713795" y="0"/>
                      <a:pt x="727560" y="5702"/>
                      <a:pt x="737709" y="15851"/>
                    </a:cubicBezTo>
                    <a:cubicBezTo>
                      <a:pt x="747858" y="25999"/>
                      <a:pt x="753559" y="39764"/>
                      <a:pt x="753559" y="54117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753559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8631425" y="72893"/>
              <a:ext cx="3563997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Hamming Loss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0" y="1377124"/>
              <a:ext cx="5867029" cy="888737"/>
              <a:chOff x="0" y="0"/>
              <a:chExt cx="1158919" cy="17550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158919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58919">
                    <a:moveTo>
                      <a:pt x="1158919" y="26391"/>
                    </a:moveTo>
                    <a:lnTo>
                      <a:pt x="1158919" y="149111"/>
                    </a:lnTo>
                    <a:cubicBezTo>
                      <a:pt x="1158919" y="163687"/>
                      <a:pt x="1147104" y="175503"/>
                      <a:pt x="1132528" y="175503"/>
                    </a:cubicBezTo>
                    <a:lnTo>
                      <a:pt x="26391" y="175503"/>
                    </a:lnTo>
                    <a:cubicBezTo>
                      <a:pt x="11816" y="175503"/>
                      <a:pt x="0" y="163687"/>
                      <a:pt x="0" y="149111"/>
                    </a:cubicBezTo>
                    <a:lnTo>
                      <a:pt x="0" y="26391"/>
                    </a:lnTo>
                    <a:cubicBezTo>
                      <a:pt x="0" y="11816"/>
                      <a:pt x="11816" y="0"/>
                      <a:pt x="26391" y="0"/>
                    </a:cubicBezTo>
                    <a:lnTo>
                      <a:pt x="1132528" y="0"/>
                    </a:lnTo>
                    <a:cubicBezTo>
                      <a:pt x="1147104" y="0"/>
                      <a:pt x="1158919" y="11816"/>
                      <a:pt x="1158919" y="26391"/>
                    </a:cubicBezTo>
                    <a:close/>
                  </a:path>
                </a:pathLst>
              </a:custGeom>
              <a:solidFill>
                <a:srgbClr val="FFFFFE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1158919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174454" y="1481400"/>
              <a:ext cx="5542478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Supp</a:t>
              </a: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ort Vector Classifier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0" y="3899192"/>
              <a:ext cx="5867029" cy="957338"/>
              <a:chOff x="0" y="0"/>
              <a:chExt cx="1158919" cy="18905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158919" cy="189050"/>
              </a:xfrm>
              <a:custGeom>
                <a:avLst/>
                <a:gdLst/>
                <a:ahLst/>
                <a:cxnLst/>
                <a:rect r="r" b="b" t="t" l="l"/>
                <a:pathLst>
                  <a:path h="189050" w="1158919">
                    <a:moveTo>
                      <a:pt x="1158919" y="26391"/>
                    </a:moveTo>
                    <a:lnTo>
                      <a:pt x="1158919" y="162658"/>
                    </a:lnTo>
                    <a:cubicBezTo>
                      <a:pt x="1158919" y="169658"/>
                      <a:pt x="1156139" y="176370"/>
                      <a:pt x="1151190" y="181320"/>
                    </a:cubicBezTo>
                    <a:cubicBezTo>
                      <a:pt x="1146240" y="186269"/>
                      <a:pt x="1139528" y="189050"/>
                      <a:pt x="1132528" y="189050"/>
                    </a:cubicBezTo>
                    <a:lnTo>
                      <a:pt x="26391" y="189050"/>
                    </a:lnTo>
                    <a:cubicBezTo>
                      <a:pt x="11816" y="189050"/>
                      <a:pt x="0" y="177234"/>
                      <a:pt x="0" y="162658"/>
                    </a:cubicBezTo>
                    <a:lnTo>
                      <a:pt x="0" y="26391"/>
                    </a:lnTo>
                    <a:cubicBezTo>
                      <a:pt x="0" y="11816"/>
                      <a:pt x="11816" y="0"/>
                      <a:pt x="26391" y="0"/>
                    </a:cubicBezTo>
                    <a:lnTo>
                      <a:pt x="1132528" y="0"/>
                    </a:lnTo>
                    <a:cubicBezTo>
                      <a:pt x="1147104" y="0"/>
                      <a:pt x="1158919" y="11816"/>
                      <a:pt x="1158919" y="26391"/>
                    </a:cubicBezTo>
                    <a:close/>
                  </a:path>
                </a:pathLst>
              </a:custGeom>
              <a:solidFill>
                <a:srgbClr val="FFFFFE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57150"/>
                <a:ext cx="1158919" cy="24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74454" y="4073244"/>
              <a:ext cx="5542478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SVC +  Fiture Enginering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15210" y="2604055"/>
              <a:ext cx="5867029" cy="888737"/>
              <a:chOff x="0" y="0"/>
              <a:chExt cx="1158919" cy="175503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158919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58919">
                    <a:moveTo>
                      <a:pt x="1158919" y="26391"/>
                    </a:moveTo>
                    <a:lnTo>
                      <a:pt x="1158919" y="149111"/>
                    </a:lnTo>
                    <a:cubicBezTo>
                      <a:pt x="1158919" y="163687"/>
                      <a:pt x="1147104" y="175503"/>
                      <a:pt x="1132528" y="175503"/>
                    </a:cubicBezTo>
                    <a:lnTo>
                      <a:pt x="26391" y="175503"/>
                    </a:lnTo>
                    <a:cubicBezTo>
                      <a:pt x="11816" y="175503"/>
                      <a:pt x="0" y="163687"/>
                      <a:pt x="0" y="149111"/>
                    </a:cubicBezTo>
                    <a:lnTo>
                      <a:pt x="0" y="26391"/>
                    </a:lnTo>
                    <a:cubicBezTo>
                      <a:pt x="0" y="11816"/>
                      <a:pt x="11816" y="0"/>
                      <a:pt x="26391" y="0"/>
                    </a:cubicBezTo>
                    <a:lnTo>
                      <a:pt x="1132528" y="0"/>
                    </a:lnTo>
                    <a:cubicBezTo>
                      <a:pt x="1147104" y="0"/>
                      <a:pt x="1158919" y="11816"/>
                      <a:pt x="1158919" y="26391"/>
                    </a:cubicBezTo>
                    <a:close/>
                  </a:path>
                </a:pathLst>
              </a:custGeom>
              <a:solidFill>
                <a:srgbClr val="FFFFFE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1158919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145473" y="2702480"/>
              <a:ext cx="5542478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Supp</a:t>
              </a: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ort Vector Classifier</a:t>
              </a:r>
            </a:p>
          </p:txBody>
        </p:sp>
        <p:grpSp>
          <p:nvGrpSpPr>
            <p:cNvPr name="Group 54" id="54"/>
            <p:cNvGrpSpPr/>
            <p:nvPr/>
          </p:nvGrpSpPr>
          <p:grpSpPr>
            <a:xfrm rot="0">
              <a:off x="0" y="5262929"/>
              <a:ext cx="5867029" cy="817027"/>
              <a:chOff x="0" y="0"/>
              <a:chExt cx="1158919" cy="161342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158919" cy="161342"/>
              </a:xfrm>
              <a:custGeom>
                <a:avLst/>
                <a:gdLst/>
                <a:ahLst/>
                <a:cxnLst/>
                <a:rect r="r" b="b" t="t" l="l"/>
                <a:pathLst>
                  <a:path h="161342" w="1158919">
                    <a:moveTo>
                      <a:pt x="1158919" y="26391"/>
                    </a:moveTo>
                    <a:lnTo>
                      <a:pt x="1158919" y="134950"/>
                    </a:lnTo>
                    <a:cubicBezTo>
                      <a:pt x="1158919" y="141950"/>
                      <a:pt x="1156139" y="148663"/>
                      <a:pt x="1151190" y="153612"/>
                    </a:cubicBezTo>
                    <a:cubicBezTo>
                      <a:pt x="1146240" y="158561"/>
                      <a:pt x="1139528" y="161342"/>
                      <a:pt x="1132528" y="161342"/>
                    </a:cubicBezTo>
                    <a:lnTo>
                      <a:pt x="26391" y="161342"/>
                    </a:lnTo>
                    <a:cubicBezTo>
                      <a:pt x="11816" y="161342"/>
                      <a:pt x="0" y="149526"/>
                      <a:pt x="0" y="134950"/>
                    </a:cubicBezTo>
                    <a:lnTo>
                      <a:pt x="0" y="26391"/>
                    </a:lnTo>
                    <a:cubicBezTo>
                      <a:pt x="0" y="11816"/>
                      <a:pt x="11816" y="0"/>
                      <a:pt x="26391" y="0"/>
                    </a:cubicBezTo>
                    <a:lnTo>
                      <a:pt x="1132528" y="0"/>
                    </a:lnTo>
                    <a:cubicBezTo>
                      <a:pt x="1147104" y="0"/>
                      <a:pt x="1158919" y="11816"/>
                      <a:pt x="1158919" y="26391"/>
                    </a:cubicBezTo>
                    <a:close/>
                  </a:path>
                </a:pathLst>
              </a:custGeom>
              <a:solidFill>
                <a:srgbClr val="FFFFFE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1158919" cy="2184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130263" y="5348303"/>
              <a:ext cx="552797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SVC</a:t>
              </a: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+  Fiture Enginering</a:t>
              </a:r>
            </a:p>
          </p:txBody>
        </p:sp>
        <p:grpSp>
          <p:nvGrpSpPr>
            <p:cNvPr name="Group 58" id="58"/>
            <p:cNvGrpSpPr/>
            <p:nvPr/>
          </p:nvGrpSpPr>
          <p:grpSpPr>
            <a:xfrm rot="0">
              <a:off x="0" y="6524456"/>
              <a:ext cx="5867029" cy="670484"/>
              <a:chOff x="0" y="0"/>
              <a:chExt cx="1158919" cy="132403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158919" cy="132403"/>
              </a:xfrm>
              <a:custGeom>
                <a:avLst/>
                <a:gdLst/>
                <a:ahLst/>
                <a:cxnLst/>
                <a:rect r="r" b="b" t="t" l="l"/>
                <a:pathLst>
                  <a:path h="132403" w="1158919">
                    <a:moveTo>
                      <a:pt x="1158919" y="26391"/>
                    </a:moveTo>
                    <a:lnTo>
                      <a:pt x="1158919" y="106012"/>
                    </a:lnTo>
                    <a:cubicBezTo>
                      <a:pt x="1158919" y="113011"/>
                      <a:pt x="1156139" y="119724"/>
                      <a:pt x="1151190" y="124673"/>
                    </a:cubicBezTo>
                    <a:cubicBezTo>
                      <a:pt x="1146240" y="129623"/>
                      <a:pt x="1139528" y="132403"/>
                      <a:pt x="1132528" y="132403"/>
                    </a:cubicBezTo>
                    <a:lnTo>
                      <a:pt x="26391" y="132403"/>
                    </a:lnTo>
                    <a:cubicBezTo>
                      <a:pt x="11816" y="132403"/>
                      <a:pt x="0" y="120587"/>
                      <a:pt x="0" y="106012"/>
                    </a:cubicBezTo>
                    <a:lnTo>
                      <a:pt x="0" y="26391"/>
                    </a:lnTo>
                    <a:cubicBezTo>
                      <a:pt x="0" y="11816"/>
                      <a:pt x="11816" y="0"/>
                      <a:pt x="26391" y="0"/>
                    </a:cubicBezTo>
                    <a:lnTo>
                      <a:pt x="1132528" y="0"/>
                    </a:lnTo>
                    <a:cubicBezTo>
                      <a:pt x="1147104" y="0"/>
                      <a:pt x="1158919" y="11816"/>
                      <a:pt x="1158919" y="26391"/>
                    </a:cubicBezTo>
                    <a:close/>
                  </a:path>
                </a:pathLst>
              </a:custGeom>
              <a:solidFill>
                <a:srgbClr val="FFFFFE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57150"/>
                <a:ext cx="1158919" cy="1895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174454" y="6561261"/>
              <a:ext cx="5542478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BERT</a:t>
              </a:r>
            </a:p>
          </p:txBody>
        </p:sp>
        <p:grpSp>
          <p:nvGrpSpPr>
            <p:cNvPr name="Group 62" id="62"/>
            <p:cNvGrpSpPr/>
            <p:nvPr/>
          </p:nvGrpSpPr>
          <p:grpSpPr>
            <a:xfrm rot="0">
              <a:off x="0" y="7537840"/>
              <a:ext cx="5867029" cy="689744"/>
              <a:chOff x="0" y="0"/>
              <a:chExt cx="1158919" cy="136207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158919" cy="136207"/>
              </a:xfrm>
              <a:custGeom>
                <a:avLst/>
                <a:gdLst/>
                <a:ahLst/>
                <a:cxnLst/>
                <a:rect r="r" b="b" t="t" l="l"/>
                <a:pathLst>
                  <a:path h="136207" w="1158919">
                    <a:moveTo>
                      <a:pt x="1158919" y="26391"/>
                    </a:moveTo>
                    <a:lnTo>
                      <a:pt x="1158919" y="109815"/>
                    </a:lnTo>
                    <a:cubicBezTo>
                      <a:pt x="1158919" y="116815"/>
                      <a:pt x="1156139" y="123527"/>
                      <a:pt x="1151190" y="128477"/>
                    </a:cubicBezTo>
                    <a:cubicBezTo>
                      <a:pt x="1146240" y="133426"/>
                      <a:pt x="1139528" y="136207"/>
                      <a:pt x="1132528" y="136207"/>
                    </a:cubicBezTo>
                    <a:lnTo>
                      <a:pt x="26391" y="136207"/>
                    </a:lnTo>
                    <a:cubicBezTo>
                      <a:pt x="11816" y="136207"/>
                      <a:pt x="0" y="124391"/>
                      <a:pt x="0" y="109815"/>
                    </a:cubicBezTo>
                    <a:lnTo>
                      <a:pt x="0" y="26391"/>
                    </a:lnTo>
                    <a:cubicBezTo>
                      <a:pt x="0" y="11816"/>
                      <a:pt x="11816" y="0"/>
                      <a:pt x="26391" y="0"/>
                    </a:cubicBezTo>
                    <a:lnTo>
                      <a:pt x="1132528" y="0"/>
                    </a:lnTo>
                    <a:cubicBezTo>
                      <a:pt x="1147104" y="0"/>
                      <a:pt x="1158919" y="11816"/>
                      <a:pt x="1158919" y="26391"/>
                    </a:cubicBezTo>
                    <a:close/>
                  </a:path>
                </a:pathLst>
              </a:custGeom>
              <a:solidFill>
                <a:srgbClr val="C2F6FF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57150"/>
                <a:ext cx="1158919" cy="193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174454" y="7572765"/>
              <a:ext cx="5542478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BERT</a:t>
              </a: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+  Fiture Enginering</a:t>
              </a:r>
            </a:p>
          </p:txBody>
        </p:sp>
        <p:grpSp>
          <p:nvGrpSpPr>
            <p:cNvPr name="Group 66" id="66"/>
            <p:cNvGrpSpPr/>
            <p:nvPr/>
          </p:nvGrpSpPr>
          <p:grpSpPr>
            <a:xfrm rot="0">
              <a:off x="6069514" y="1353473"/>
              <a:ext cx="6003826" cy="881710"/>
              <a:chOff x="0" y="0"/>
              <a:chExt cx="1185941" cy="174115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1185941" cy="174115"/>
              </a:xfrm>
              <a:custGeom>
                <a:avLst/>
                <a:gdLst/>
                <a:ahLst/>
                <a:cxnLst/>
                <a:rect r="r" b="b" t="t" l="l"/>
                <a:pathLst>
                  <a:path h="174115" w="1185941">
                    <a:moveTo>
                      <a:pt x="1185941" y="34387"/>
                    </a:moveTo>
                    <a:lnTo>
                      <a:pt x="1185941" y="139728"/>
                    </a:lnTo>
                    <a:cubicBezTo>
                      <a:pt x="1185941" y="158720"/>
                      <a:pt x="1170546" y="174115"/>
                      <a:pt x="1151554" y="174115"/>
                    </a:cubicBezTo>
                    <a:lnTo>
                      <a:pt x="34387" y="174115"/>
                    </a:lnTo>
                    <a:cubicBezTo>
                      <a:pt x="15395" y="174115"/>
                      <a:pt x="0" y="158720"/>
                      <a:pt x="0" y="139728"/>
                    </a:cubicBezTo>
                    <a:lnTo>
                      <a:pt x="0" y="34387"/>
                    </a:lnTo>
                    <a:cubicBezTo>
                      <a:pt x="0" y="15395"/>
                      <a:pt x="15395" y="0"/>
                      <a:pt x="34387" y="0"/>
                    </a:cubicBezTo>
                    <a:lnTo>
                      <a:pt x="1151554" y="0"/>
                    </a:lnTo>
                    <a:cubicBezTo>
                      <a:pt x="1170546" y="0"/>
                      <a:pt x="1185941" y="15395"/>
                      <a:pt x="1185941" y="3438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57150"/>
                <a:ext cx="1185941" cy="2312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6140051" y="1490609"/>
              <a:ext cx="5932847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False</a:t>
              </a:r>
            </a:p>
          </p:txBody>
        </p:sp>
        <p:grpSp>
          <p:nvGrpSpPr>
            <p:cNvPr name="Group 70" id="70"/>
            <p:cNvGrpSpPr/>
            <p:nvPr/>
          </p:nvGrpSpPr>
          <p:grpSpPr>
            <a:xfrm rot="0">
              <a:off x="6069514" y="3899192"/>
              <a:ext cx="6003826" cy="919238"/>
              <a:chOff x="0" y="0"/>
              <a:chExt cx="1185941" cy="181526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185941" cy="181526"/>
              </a:xfrm>
              <a:custGeom>
                <a:avLst/>
                <a:gdLst/>
                <a:ahLst/>
                <a:cxnLst/>
                <a:rect r="r" b="b" t="t" l="l"/>
                <a:pathLst>
                  <a:path h="181526" w="1185941">
                    <a:moveTo>
                      <a:pt x="1185941" y="34387"/>
                    </a:moveTo>
                    <a:lnTo>
                      <a:pt x="1185941" y="147139"/>
                    </a:lnTo>
                    <a:cubicBezTo>
                      <a:pt x="1185941" y="166130"/>
                      <a:pt x="1170546" y="181526"/>
                      <a:pt x="1151554" y="181526"/>
                    </a:cubicBezTo>
                    <a:lnTo>
                      <a:pt x="34387" y="181526"/>
                    </a:lnTo>
                    <a:cubicBezTo>
                      <a:pt x="15395" y="181526"/>
                      <a:pt x="0" y="166130"/>
                      <a:pt x="0" y="147139"/>
                    </a:cubicBezTo>
                    <a:lnTo>
                      <a:pt x="0" y="34387"/>
                    </a:lnTo>
                    <a:cubicBezTo>
                      <a:pt x="0" y="15395"/>
                      <a:pt x="15395" y="0"/>
                      <a:pt x="34387" y="0"/>
                    </a:cubicBezTo>
                    <a:lnTo>
                      <a:pt x="1151554" y="0"/>
                    </a:lnTo>
                    <a:cubicBezTo>
                      <a:pt x="1170546" y="0"/>
                      <a:pt x="1185941" y="15395"/>
                      <a:pt x="1185941" y="3438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57150"/>
                <a:ext cx="1185941" cy="2386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6084724" y="2587253"/>
              <a:ext cx="6003384" cy="888737"/>
              <a:chOff x="0" y="0"/>
              <a:chExt cx="1185854" cy="17550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185854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85854">
                    <a:moveTo>
                      <a:pt x="1185854" y="34389"/>
                    </a:moveTo>
                    <a:lnTo>
                      <a:pt x="1185854" y="141113"/>
                    </a:lnTo>
                    <a:cubicBezTo>
                      <a:pt x="1185854" y="150234"/>
                      <a:pt x="1182230" y="158981"/>
                      <a:pt x="1175781" y="165430"/>
                    </a:cubicBezTo>
                    <a:cubicBezTo>
                      <a:pt x="1169332" y="171879"/>
                      <a:pt x="1160585" y="175503"/>
                      <a:pt x="1151464" y="175503"/>
                    </a:cubicBezTo>
                    <a:lnTo>
                      <a:pt x="34389" y="175503"/>
                    </a:lnTo>
                    <a:cubicBezTo>
                      <a:pt x="25269" y="175503"/>
                      <a:pt x="16522" y="171879"/>
                      <a:pt x="10072" y="165430"/>
                    </a:cubicBezTo>
                    <a:cubicBezTo>
                      <a:pt x="3623" y="158981"/>
                      <a:pt x="0" y="150234"/>
                      <a:pt x="0" y="141113"/>
                    </a:cubicBezTo>
                    <a:lnTo>
                      <a:pt x="0" y="34389"/>
                    </a:lnTo>
                    <a:cubicBezTo>
                      <a:pt x="0" y="25269"/>
                      <a:pt x="3623" y="16522"/>
                      <a:pt x="10072" y="10072"/>
                    </a:cubicBezTo>
                    <a:cubicBezTo>
                      <a:pt x="16522" y="3623"/>
                      <a:pt x="25269" y="0"/>
                      <a:pt x="34389" y="0"/>
                    </a:cubicBezTo>
                    <a:lnTo>
                      <a:pt x="1151464" y="0"/>
                    </a:lnTo>
                    <a:cubicBezTo>
                      <a:pt x="1160585" y="0"/>
                      <a:pt x="1169332" y="3623"/>
                      <a:pt x="1175781" y="10072"/>
                    </a:cubicBezTo>
                    <a:cubicBezTo>
                      <a:pt x="1182230" y="16522"/>
                      <a:pt x="1185854" y="25269"/>
                      <a:pt x="1185854" y="34389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57150"/>
                <a:ext cx="1185854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6069514" y="5262929"/>
              <a:ext cx="6003384" cy="817027"/>
              <a:chOff x="0" y="0"/>
              <a:chExt cx="1185854" cy="161342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185854" cy="161342"/>
              </a:xfrm>
              <a:custGeom>
                <a:avLst/>
                <a:gdLst/>
                <a:ahLst/>
                <a:cxnLst/>
                <a:rect r="r" b="b" t="t" l="l"/>
                <a:pathLst>
                  <a:path h="161342" w="1185854">
                    <a:moveTo>
                      <a:pt x="1185854" y="34389"/>
                    </a:moveTo>
                    <a:lnTo>
                      <a:pt x="1185854" y="126953"/>
                    </a:lnTo>
                    <a:cubicBezTo>
                      <a:pt x="1185854" y="136073"/>
                      <a:pt x="1182230" y="144820"/>
                      <a:pt x="1175781" y="151269"/>
                    </a:cubicBezTo>
                    <a:cubicBezTo>
                      <a:pt x="1169332" y="157719"/>
                      <a:pt x="1160585" y="161342"/>
                      <a:pt x="1151464" y="161342"/>
                    </a:cubicBezTo>
                    <a:lnTo>
                      <a:pt x="34389" y="161342"/>
                    </a:lnTo>
                    <a:cubicBezTo>
                      <a:pt x="25269" y="161342"/>
                      <a:pt x="16522" y="157719"/>
                      <a:pt x="10072" y="151269"/>
                    </a:cubicBezTo>
                    <a:cubicBezTo>
                      <a:pt x="3623" y="144820"/>
                      <a:pt x="0" y="136073"/>
                      <a:pt x="0" y="126953"/>
                    </a:cubicBezTo>
                    <a:lnTo>
                      <a:pt x="0" y="34389"/>
                    </a:lnTo>
                    <a:cubicBezTo>
                      <a:pt x="0" y="25269"/>
                      <a:pt x="3623" y="16522"/>
                      <a:pt x="10072" y="10072"/>
                    </a:cubicBezTo>
                    <a:cubicBezTo>
                      <a:pt x="16522" y="3623"/>
                      <a:pt x="25269" y="0"/>
                      <a:pt x="34389" y="0"/>
                    </a:cubicBezTo>
                    <a:lnTo>
                      <a:pt x="1151464" y="0"/>
                    </a:lnTo>
                    <a:cubicBezTo>
                      <a:pt x="1160585" y="0"/>
                      <a:pt x="1169332" y="3623"/>
                      <a:pt x="1175781" y="10072"/>
                    </a:cubicBezTo>
                    <a:cubicBezTo>
                      <a:pt x="1182230" y="16522"/>
                      <a:pt x="1185854" y="25269"/>
                      <a:pt x="1185854" y="34389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57150"/>
                <a:ext cx="1185854" cy="2184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6069514" y="6524456"/>
              <a:ext cx="6003384" cy="670484"/>
              <a:chOff x="0" y="0"/>
              <a:chExt cx="1185854" cy="13240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185854" cy="132403"/>
              </a:xfrm>
              <a:custGeom>
                <a:avLst/>
                <a:gdLst/>
                <a:ahLst/>
                <a:cxnLst/>
                <a:rect r="r" b="b" t="t" l="l"/>
                <a:pathLst>
                  <a:path h="132403" w="1185854">
                    <a:moveTo>
                      <a:pt x="1185854" y="34389"/>
                    </a:moveTo>
                    <a:lnTo>
                      <a:pt x="1185854" y="98014"/>
                    </a:lnTo>
                    <a:cubicBezTo>
                      <a:pt x="1185854" y="107135"/>
                      <a:pt x="1182230" y="115882"/>
                      <a:pt x="1175781" y="122331"/>
                    </a:cubicBezTo>
                    <a:cubicBezTo>
                      <a:pt x="1169332" y="128780"/>
                      <a:pt x="1160585" y="132403"/>
                      <a:pt x="1151464" y="132403"/>
                    </a:cubicBezTo>
                    <a:lnTo>
                      <a:pt x="34389" y="132403"/>
                    </a:lnTo>
                    <a:cubicBezTo>
                      <a:pt x="25269" y="132403"/>
                      <a:pt x="16522" y="128780"/>
                      <a:pt x="10072" y="122331"/>
                    </a:cubicBezTo>
                    <a:cubicBezTo>
                      <a:pt x="3623" y="115882"/>
                      <a:pt x="0" y="107135"/>
                      <a:pt x="0" y="98014"/>
                    </a:cubicBezTo>
                    <a:lnTo>
                      <a:pt x="0" y="34389"/>
                    </a:lnTo>
                    <a:cubicBezTo>
                      <a:pt x="0" y="25269"/>
                      <a:pt x="3623" y="16522"/>
                      <a:pt x="10072" y="10072"/>
                    </a:cubicBezTo>
                    <a:cubicBezTo>
                      <a:pt x="16522" y="3623"/>
                      <a:pt x="25269" y="0"/>
                      <a:pt x="34389" y="0"/>
                    </a:cubicBezTo>
                    <a:lnTo>
                      <a:pt x="1151464" y="0"/>
                    </a:lnTo>
                    <a:cubicBezTo>
                      <a:pt x="1160585" y="0"/>
                      <a:pt x="1169332" y="3623"/>
                      <a:pt x="1175781" y="10072"/>
                    </a:cubicBezTo>
                    <a:cubicBezTo>
                      <a:pt x="1182230" y="16522"/>
                      <a:pt x="1185854" y="25269"/>
                      <a:pt x="1185854" y="34389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57150"/>
                <a:ext cx="1185854" cy="1895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6069514" y="7537840"/>
              <a:ext cx="6003384" cy="689744"/>
              <a:chOff x="0" y="0"/>
              <a:chExt cx="1185854" cy="136207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1185854" cy="136207"/>
              </a:xfrm>
              <a:custGeom>
                <a:avLst/>
                <a:gdLst/>
                <a:ahLst/>
                <a:cxnLst/>
                <a:rect r="r" b="b" t="t" l="l"/>
                <a:pathLst>
                  <a:path h="136207" w="1185854">
                    <a:moveTo>
                      <a:pt x="1185854" y="34389"/>
                    </a:moveTo>
                    <a:lnTo>
                      <a:pt x="1185854" y="101817"/>
                    </a:lnTo>
                    <a:cubicBezTo>
                      <a:pt x="1185854" y="110938"/>
                      <a:pt x="1182230" y="119685"/>
                      <a:pt x="1175781" y="126134"/>
                    </a:cubicBezTo>
                    <a:cubicBezTo>
                      <a:pt x="1169332" y="132584"/>
                      <a:pt x="1160585" y="136207"/>
                      <a:pt x="1151464" y="136207"/>
                    </a:cubicBezTo>
                    <a:lnTo>
                      <a:pt x="34389" y="136207"/>
                    </a:lnTo>
                    <a:cubicBezTo>
                      <a:pt x="25269" y="136207"/>
                      <a:pt x="16522" y="132584"/>
                      <a:pt x="10072" y="126134"/>
                    </a:cubicBezTo>
                    <a:cubicBezTo>
                      <a:pt x="3623" y="119685"/>
                      <a:pt x="0" y="110938"/>
                      <a:pt x="0" y="101817"/>
                    </a:cubicBezTo>
                    <a:lnTo>
                      <a:pt x="0" y="34389"/>
                    </a:lnTo>
                    <a:cubicBezTo>
                      <a:pt x="0" y="25269"/>
                      <a:pt x="3623" y="16522"/>
                      <a:pt x="10072" y="10072"/>
                    </a:cubicBezTo>
                    <a:cubicBezTo>
                      <a:pt x="16522" y="3623"/>
                      <a:pt x="25269" y="0"/>
                      <a:pt x="34389" y="0"/>
                    </a:cubicBezTo>
                    <a:lnTo>
                      <a:pt x="1151464" y="0"/>
                    </a:lnTo>
                    <a:cubicBezTo>
                      <a:pt x="1160585" y="0"/>
                      <a:pt x="1169332" y="3623"/>
                      <a:pt x="1175781" y="10072"/>
                    </a:cubicBezTo>
                    <a:cubicBezTo>
                      <a:pt x="1182230" y="16522"/>
                      <a:pt x="1185854" y="25269"/>
                      <a:pt x="1185854" y="34389"/>
                    </a:cubicBezTo>
                    <a:close/>
                  </a:path>
                </a:pathLst>
              </a:custGeom>
              <a:solidFill>
                <a:srgbClr val="C2F6FF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57150"/>
                <a:ext cx="1185854" cy="193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6225798" y="2700738"/>
              <a:ext cx="568538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True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6140051" y="4055266"/>
              <a:ext cx="5968115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False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6210588" y="5348303"/>
              <a:ext cx="570059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True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6210588" y="6536035"/>
              <a:ext cx="570059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False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6210588" y="7559049"/>
              <a:ext cx="570059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False</a:t>
              </a:r>
            </a:p>
          </p:txBody>
        </p:sp>
        <p:grpSp>
          <p:nvGrpSpPr>
            <p:cNvPr name="Group 90" id="90"/>
            <p:cNvGrpSpPr/>
            <p:nvPr/>
          </p:nvGrpSpPr>
          <p:grpSpPr>
            <a:xfrm rot="0">
              <a:off x="12276540" y="1377124"/>
              <a:ext cx="5989095" cy="881710"/>
              <a:chOff x="0" y="0"/>
              <a:chExt cx="1183031" cy="174115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1183031" cy="174115"/>
              </a:xfrm>
              <a:custGeom>
                <a:avLst/>
                <a:gdLst/>
                <a:ahLst/>
                <a:cxnLst/>
                <a:rect r="r" b="b" t="t" l="l"/>
                <a:pathLst>
                  <a:path h="174115" w="1183031">
                    <a:moveTo>
                      <a:pt x="1183031" y="34471"/>
                    </a:moveTo>
                    <a:lnTo>
                      <a:pt x="1183031" y="139644"/>
                    </a:lnTo>
                    <a:cubicBezTo>
                      <a:pt x="1183031" y="148786"/>
                      <a:pt x="1179399" y="157554"/>
                      <a:pt x="1172935" y="164019"/>
                    </a:cubicBezTo>
                    <a:cubicBezTo>
                      <a:pt x="1166470" y="170483"/>
                      <a:pt x="1157702" y="174115"/>
                      <a:pt x="1148560" y="174115"/>
                    </a:cubicBezTo>
                    <a:lnTo>
                      <a:pt x="34471" y="174115"/>
                    </a:lnTo>
                    <a:cubicBezTo>
                      <a:pt x="25329" y="174115"/>
                      <a:pt x="16561" y="170483"/>
                      <a:pt x="10096" y="164019"/>
                    </a:cubicBezTo>
                    <a:cubicBezTo>
                      <a:pt x="3632" y="157554"/>
                      <a:pt x="0" y="148786"/>
                      <a:pt x="0" y="139644"/>
                    </a:cubicBezTo>
                    <a:lnTo>
                      <a:pt x="0" y="34471"/>
                    </a:lnTo>
                    <a:cubicBezTo>
                      <a:pt x="0" y="25329"/>
                      <a:pt x="3632" y="16561"/>
                      <a:pt x="10096" y="10096"/>
                    </a:cubicBezTo>
                    <a:cubicBezTo>
                      <a:pt x="16561" y="3632"/>
                      <a:pt x="25329" y="0"/>
                      <a:pt x="34471" y="0"/>
                    </a:cubicBezTo>
                    <a:lnTo>
                      <a:pt x="1148560" y="0"/>
                    </a:lnTo>
                    <a:cubicBezTo>
                      <a:pt x="1157702" y="0"/>
                      <a:pt x="1166470" y="3632"/>
                      <a:pt x="1172935" y="10096"/>
                    </a:cubicBezTo>
                    <a:cubicBezTo>
                      <a:pt x="1179399" y="16561"/>
                      <a:pt x="1183031" y="25329"/>
                      <a:pt x="1183031" y="3447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57150"/>
                <a:ext cx="1183031" cy="2312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93" id="93"/>
            <p:cNvSpPr txBox="true"/>
            <p:nvPr/>
          </p:nvSpPr>
          <p:spPr>
            <a:xfrm rot="0">
              <a:off x="12346904" y="1514260"/>
              <a:ext cx="5918290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0.5141</a:t>
              </a:r>
            </a:p>
          </p:txBody>
        </p:sp>
        <p:grpSp>
          <p:nvGrpSpPr>
            <p:cNvPr name="Group 94" id="94"/>
            <p:cNvGrpSpPr/>
            <p:nvPr/>
          </p:nvGrpSpPr>
          <p:grpSpPr>
            <a:xfrm rot="0">
              <a:off x="12276540" y="3922843"/>
              <a:ext cx="5989095" cy="933686"/>
              <a:chOff x="0" y="0"/>
              <a:chExt cx="1183031" cy="184379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1183031" cy="184379"/>
              </a:xfrm>
              <a:custGeom>
                <a:avLst/>
                <a:gdLst/>
                <a:ahLst/>
                <a:cxnLst/>
                <a:rect r="r" b="b" t="t" l="l"/>
                <a:pathLst>
                  <a:path h="184379" w="1183031">
                    <a:moveTo>
                      <a:pt x="1183031" y="34471"/>
                    </a:moveTo>
                    <a:lnTo>
                      <a:pt x="1183031" y="149908"/>
                    </a:lnTo>
                    <a:cubicBezTo>
                      <a:pt x="1183031" y="159050"/>
                      <a:pt x="1179399" y="167818"/>
                      <a:pt x="1172935" y="174283"/>
                    </a:cubicBezTo>
                    <a:cubicBezTo>
                      <a:pt x="1166470" y="180747"/>
                      <a:pt x="1157702" y="184379"/>
                      <a:pt x="1148560" y="184379"/>
                    </a:cubicBezTo>
                    <a:lnTo>
                      <a:pt x="34471" y="184379"/>
                    </a:lnTo>
                    <a:cubicBezTo>
                      <a:pt x="25329" y="184379"/>
                      <a:pt x="16561" y="180747"/>
                      <a:pt x="10096" y="174283"/>
                    </a:cubicBezTo>
                    <a:cubicBezTo>
                      <a:pt x="3632" y="167818"/>
                      <a:pt x="0" y="159050"/>
                      <a:pt x="0" y="149908"/>
                    </a:cubicBezTo>
                    <a:lnTo>
                      <a:pt x="0" y="34471"/>
                    </a:lnTo>
                    <a:cubicBezTo>
                      <a:pt x="0" y="25329"/>
                      <a:pt x="3632" y="16561"/>
                      <a:pt x="10096" y="10096"/>
                    </a:cubicBezTo>
                    <a:cubicBezTo>
                      <a:pt x="16561" y="3632"/>
                      <a:pt x="25329" y="0"/>
                      <a:pt x="34471" y="0"/>
                    </a:cubicBezTo>
                    <a:lnTo>
                      <a:pt x="1148560" y="0"/>
                    </a:lnTo>
                    <a:cubicBezTo>
                      <a:pt x="1157702" y="0"/>
                      <a:pt x="1166470" y="3632"/>
                      <a:pt x="1172935" y="10096"/>
                    </a:cubicBezTo>
                    <a:cubicBezTo>
                      <a:pt x="1179399" y="16561"/>
                      <a:pt x="1183031" y="25329"/>
                      <a:pt x="1183031" y="3447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57150"/>
                <a:ext cx="1183031" cy="2415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12291713" y="2610905"/>
              <a:ext cx="5988654" cy="888737"/>
              <a:chOff x="0" y="0"/>
              <a:chExt cx="1182944" cy="17550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1182944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82944">
                    <a:moveTo>
                      <a:pt x="1182944" y="34474"/>
                    </a:moveTo>
                    <a:lnTo>
                      <a:pt x="1182944" y="141029"/>
                    </a:lnTo>
                    <a:cubicBezTo>
                      <a:pt x="1182944" y="160068"/>
                      <a:pt x="1167510" y="175503"/>
                      <a:pt x="1148470" y="175503"/>
                    </a:cubicBezTo>
                    <a:lnTo>
                      <a:pt x="34474" y="175503"/>
                    </a:lnTo>
                    <a:cubicBezTo>
                      <a:pt x="25331" y="175503"/>
                      <a:pt x="16562" y="171871"/>
                      <a:pt x="10097" y="165405"/>
                    </a:cubicBezTo>
                    <a:cubicBezTo>
                      <a:pt x="3632" y="158940"/>
                      <a:pt x="0" y="150172"/>
                      <a:pt x="0" y="141029"/>
                    </a:cubicBezTo>
                    <a:lnTo>
                      <a:pt x="0" y="34474"/>
                    </a:lnTo>
                    <a:cubicBezTo>
                      <a:pt x="0" y="25331"/>
                      <a:pt x="3632" y="16562"/>
                      <a:pt x="10097" y="10097"/>
                    </a:cubicBezTo>
                    <a:cubicBezTo>
                      <a:pt x="16562" y="3632"/>
                      <a:pt x="25331" y="0"/>
                      <a:pt x="34474" y="0"/>
                    </a:cubicBezTo>
                    <a:lnTo>
                      <a:pt x="1148470" y="0"/>
                    </a:lnTo>
                    <a:cubicBezTo>
                      <a:pt x="1157613" y="0"/>
                      <a:pt x="1166382" y="3632"/>
                      <a:pt x="1172847" y="10097"/>
                    </a:cubicBezTo>
                    <a:cubicBezTo>
                      <a:pt x="1179312" y="16562"/>
                      <a:pt x="1182944" y="25331"/>
                      <a:pt x="1182944" y="3447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57150"/>
                <a:ext cx="1182944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12276540" y="5286581"/>
              <a:ext cx="5988654" cy="793375"/>
              <a:chOff x="0" y="0"/>
              <a:chExt cx="1182944" cy="156671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182944" cy="156671"/>
              </a:xfrm>
              <a:custGeom>
                <a:avLst/>
                <a:gdLst/>
                <a:ahLst/>
                <a:cxnLst/>
                <a:rect r="r" b="b" t="t" l="l"/>
                <a:pathLst>
                  <a:path h="156671" w="1182944">
                    <a:moveTo>
                      <a:pt x="1182944" y="34474"/>
                    </a:moveTo>
                    <a:lnTo>
                      <a:pt x="1182944" y="122198"/>
                    </a:lnTo>
                    <a:cubicBezTo>
                      <a:pt x="1182944" y="141237"/>
                      <a:pt x="1167510" y="156671"/>
                      <a:pt x="1148470" y="156671"/>
                    </a:cubicBezTo>
                    <a:lnTo>
                      <a:pt x="34474" y="156671"/>
                    </a:lnTo>
                    <a:cubicBezTo>
                      <a:pt x="25331" y="156671"/>
                      <a:pt x="16562" y="153039"/>
                      <a:pt x="10097" y="146574"/>
                    </a:cubicBezTo>
                    <a:cubicBezTo>
                      <a:pt x="3632" y="140109"/>
                      <a:pt x="0" y="131341"/>
                      <a:pt x="0" y="122198"/>
                    </a:cubicBezTo>
                    <a:lnTo>
                      <a:pt x="0" y="34474"/>
                    </a:lnTo>
                    <a:cubicBezTo>
                      <a:pt x="0" y="25331"/>
                      <a:pt x="3632" y="16562"/>
                      <a:pt x="10097" y="10097"/>
                    </a:cubicBezTo>
                    <a:cubicBezTo>
                      <a:pt x="16562" y="3632"/>
                      <a:pt x="25331" y="0"/>
                      <a:pt x="34474" y="0"/>
                    </a:cubicBezTo>
                    <a:lnTo>
                      <a:pt x="1148470" y="0"/>
                    </a:lnTo>
                    <a:cubicBezTo>
                      <a:pt x="1157613" y="0"/>
                      <a:pt x="1166382" y="3632"/>
                      <a:pt x="1172847" y="10097"/>
                    </a:cubicBezTo>
                    <a:cubicBezTo>
                      <a:pt x="1179312" y="16562"/>
                      <a:pt x="1182944" y="25331"/>
                      <a:pt x="1182944" y="3447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57150"/>
                <a:ext cx="1182944" cy="2138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12276540" y="6548108"/>
              <a:ext cx="5988654" cy="670484"/>
              <a:chOff x="0" y="0"/>
              <a:chExt cx="1182944" cy="13240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1182944" cy="132403"/>
              </a:xfrm>
              <a:custGeom>
                <a:avLst/>
                <a:gdLst/>
                <a:ahLst/>
                <a:cxnLst/>
                <a:rect r="r" b="b" t="t" l="l"/>
                <a:pathLst>
                  <a:path h="132403" w="1182944">
                    <a:moveTo>
                      <a:pt x="1182944" y="34474"/>
                    </a:moveTo>
                    <a:lnTo>
                      <a:pt x="1182944" y="97930"/>
                    </a:lnTo>
                    <a:cubicBezTo>
                      <a:pt x="1182944" y="116969"/>
                      <a:pt x="1167510" y="132403"/>
                      <a:pt x="1148470" y="132403"/>
                    </a:cubicBezTo>
                    <a:lnTo>
                      <a:pt x="34474" y="132403"/>
                    </a:lnTo>
                    <a:cubicBezTo>
                      <a:pt x="25331" y="132403"/>
                      <a:pt x="16562" y="128771"/>
                      <a:pt x="10097" y="122306"/>
                    </a:cubicBezTo>
                    <a:cubicBezTo>
                      <a:pt x="3632" y="115841"/>
                      <a:pt x="0" y="107073"/>
                      <a:pt x="0" y="97930"/>
                    </a:cubicBezTo>
                    <a:lnTo>
                      <a:pt x="0" y="34474"/>
                    </a:lnTo>
                    <a:cubicBezTo>
                      <a:pt x="0" y="25331"/>
                      <a:pt x="3632" y="16562"/>
                      <a:pt x="10097" y="10097"/>
                    </a:cubicBezTo>
                    <a:cubicBezTo>
                      <a:pt x="16562" y="3632"/>
                      <a:pt x="25331" y="0"/>
                      <a:pt x="34474" y="0"/>
                    </a:cubicBezTo>
                    <a:lnTo>
                      <a:pt x="1148470" y="0"/>
                    </a:lnTo>
                    <a:cubicBezTo>
                      <a:pt x="1157613" y="0"/>
                      <a:pt x="1166382" y="3632"/>
                      <a:pt x="1172847" y="10097"/>
                    </a:cubicBezTo>
                    <a:cubicBezTo>
                      <a:pt x="1179312" y="16562"/>
                      <a:pt x="1182944" y="25331"/>
                      <a:pt x="1182944" y="3447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57150"/>
                <a:ext cx="1182944" cy="1895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2276540" y="7561491"/>
              <a:ext cx="5988654" cy="689744"/>
              <a:chOff x="0" y="0"/>
              <a:chExt cx="1182944" cy="136207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1182944" cy="136207"/>
              </a:xfrm>
              <a:custGeom>
                <a:avLst/>
                <a:gdLst/>
                <a:ahLst/>
                <a:cxnLst/>
                <a:rect r="r" b="b" t="t" l="l"/>
                <a:pathLst>
                  <a:path h="136207" w="1182944">
                    <a:moveTo>
                      <a:pt x="1182944" y="34474"/>
                    </a:moveTo>
                    <a:lnTo>
                      <a:pt x="1182944" y="101733"/>
                    </a:lnTo>
                    <a:cubicBezTo>
                      <a:pt x="1182944" y="110876"/>
                      <a:pt x="1179312" y="119644"/>
                      <a:pt x="1172847" y="126110"/>
                    </a:cubicBezTo>
                    <a:cubicBezTo>
                      <a:pt x="1166382" y="132575"/>
                      <a:pt x="1157613" y="136207"/>
                      <a:pt x="1148470" y="136207"/>
                    </a:cubicBezTo>
                    <a:lnTo>
                      <a:pt x="34474" y="136207"/>
                    </a:lnTo>
                    <a:cubicBezTo>
                      <a:pt x="15434" y="136207"/>
                      <a:pt x="0" y="120772"/>
                      <a:pt x="0" y="101733"/>
                    </a:cubicBezTo>
                    <a:lnTo>
                      <a:pt x="0" y="34474"/>
                    </a:lnTo>
                    <a:cubicBezTo>
                      <a:pt x="0" y="25331"/>
                      <a:pt x="3632" y="16562"/>
                      <a:pt x="10097" y="10097"/>
                    </a:cubicBezTo>
                    <a:cubicBezTo>
                      <a:pt x="16562" y="3632"/>
                      <a:pt x="25331" y="0"/>
                      <a:pt x="34474" y="0"/>
                    </a:cubicBezTo>
                    <a:lnTo>
                      <a:pt x="1148470" y="0"/>
                    </a:lnTo>
                    <a:cubicBezTo>
                      <a:pt x="1157613" y="0"/>
                      <a:pt x="1166382" y="3632"/>
                      <a:pt x="1172847" y="10097"/>
                    </a:cubicBezTo>
                    <a:cubicBezTo>
                      <a:pt x="1179312" y="16562"/>
                      <a:pt x="1182944" y="25331"/>
                      <a:pt x="1182944" y="34474"/>
                    </a:cubicBezTo>
                    <a:close/>
                  </a:path>
                </a:pathLst>
              </a:custGeom>
              <a:solidFill>
                <a:srgbClr val="C2F6FF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57150"/>
                <a:ext cx="1182944" cy="193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109" id="109"/>
            <p:cNvSpPr txBox="true"/>
            <p:nvPr/>
          </p:nvSpPr>
          <p:spPr>
            <a:xfrm rot="0">
              <a:off x="12432440" y="2724389"/>
              <a:ext cx="567143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0.5141</a:t>
              </a:r>
            </a:p>
          </p:txBody>
        </p:sp>
        <p:sp>
          <p:nvSpPr>
            <p:cNvPr name="TextBox 110" id="110"/>
            <p:cNvSpPr txBox="true"/>
            <p:nvPr/>
          </p:nvSpPr>
          <p:spPr>
            <a:xfrm rot="0">
              <a:off x="12311722" y="4055266"/>
              <a:ext cx="595347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0.5223</a:t>
              </a:r>
            </a:p>
          </p:txBody>
        </p:sp>
        <p:sp>
          <p:nvSpPr>
            <p:cNvPr name="TextBox 111" id="111"/>
            <p:cNvSpPr txBox="true"/>
            <p:nvPr/>
          </p:nvSpPr>
          <p:spPr>
            <a:xfrm rot="0">
              <a:off x="12435151" y="5359606"/>
              <a:ext cx="5686605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0.5223</a:t>
              </a:r>
            </a:p>
          </p:txBody>
        </p:sp>
        <p:sp>
          <p:nvSpPr>
            <p:cNvPr name="TextBox 112" id="112"/>
            <p:cNvSpPr txBox="true"/>
            <p:nvPr/>
          </p:nvSpPr>
          <p:spPr>
            <a:xfrm rot="0">
              <a:off x="12417268" y="6559687"/>
              <a:ext cx="5686605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0.6451</a:t>
              </a:r>
            </a:p>
          </p:txBody>
        </p:sp>
        <p:sp>
          <p:nvSpPr>
            <p:cNvPr name="TextBox 113" id="113"/>
            <p:cNvSpPr txBox="true"/>
            <p:nvPr/>
          </p:nvSpPr>
          <p:spPr>
            <a:xfrm rot="0">
              <a:off x="12417268" y="7582700"/>
              <a:ext cx="5686605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0.6636</a:t>
              </a:r>
            </a:p>
          </p:txBody>
        </p:sp>
        <p:grpSp>
          <p:nvGrpSpPr>
            <p:cNvPr name="Group 114" id="114"/>
            <p:cNvGrpSpPr/>
            <p:nvPr/>
          </p:nvGrpSpPr>
          <p:grpSpPr>
            <a:xfrm rot="0">
              <a:off x="18483566" y="1364424"/>
              <a:ext cx="3805534" cy="881710"/>
              <a:chOff x="0" y="0"/>
              <a:chExt cx="751710" cy="174115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751710" cy="174115"/>
              </a:xfrm>
              <a:custGeom>
                <a:avLst/>
                <a:gdLst/>
                <a:ahLst/>
                <a:cxnLst/>
                <a:rect r="r" b="b" t="t" l="l"/>
                <a:pathLst>
                  <a:path h="174115" w="751710">
                    <a:moveTo>
                      <a:pt x="751710" y="54250"/>
                    </a:moveTo>
                    <a:lnTo>
                      <a:pt x="751710" y="119865"/>
                    </a:lnTo>
                    <a:cubicBezTo>
                      <a:pt x="751710" y="134253"/>
                      <a:pt x="745995" y="148052"/>
                      <a:pt x="735821" y="158225"/>
                    </a:cubicBezTo>
                    <a:cubicBezTo>
                      <a:pt x="725647" y="168399"/>
                      <a:pt x="711848" y="174115"/>
                      <a:pt x="697460" y="174115"/>
                    </a:cubicBezTo>
                    <a:lnTo>
                      <a:pt x="54250" y="174115"/>
                    </a:lnTo>
                    <a:cubicBezTo>
                      <a:pt x="39862" y="174115"/>
                      <a:pt x="26063" y="168399"/>
                      <a:pt x="15890" y="158225"/>
                    </a:cubicBezTo>
                    <a:cubicBezTo>
                      <a:pt x="5716" y="148052"/>
                      <a:pt x="0" y="134253"/>
                      <a:pt x="0" y="119865"/>
                    </a:cubicBezTo>
                    <a:lnTo>
                      <a:pt x="0" y="54250"/>
                    </a:lnTo>
                    <a:cubicBezTo>
                      <a:pt x="0" y="39862"/>
                      <a:pt x="5716" y="26063"/>
                      <a:pt x="15890" y="15890"/>
                    </a:cubicBezTo>
                    <a:cubicBezTo>
                      <a:pt x="26063" y="5716"/>
                      <a:pt x="39862" y="0"/>
                      <a:pt x="54250" y="0"/>
                    </a:cubicBezTo>
                    <a:lnTo>
                      <a:pt x="697460" y="0"/>
                    </a:lnTo>
                    <a:cubicBezTo>
                      <a:pt x="727422" y="0"/>
                      <a:pt x="751710" y="24289"/>
                      <a:pt x="751710" y="54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16" id="116"/>
              <p:cNvSpPr txBox="true"/>
              <p:nvPr/>
            </p:nvSpPr>
            <p:spPr>
              <a:xfrm>
                <a:off x="0" y="-57150"/>
                <a:ext cx="751710" cy="2312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117" id="117"/>
            <p:cNvSpPr txBox="true"/>
            <p:nvPr/>
          </p:nvSpPr>
          <p:spPr>
            <a:xfrm rot="0">
              <a:off x="18528276" y="1501560"/>
              <a:ext cx="3709446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0.1182</a:t>
              </a:r>
            </a:p>
          </p:txBody>
        </p:sp>
        <p:grpSp>
          <p:nvGrpSpPr>
            <p:cNvPr name="Group 118" id="118"/>
            <p:cNvGrpSpPr/>
            <p:nvPr/>
          </p:nvGrpSpPr>
          <p:grpSpPr>
            <a:xfrm rot="0">
              <a:off x="18483566" y="3910143"/>
              <a:ext cx="3805534" cy="946386"/>
              <a:chOff x="0" y="0"/>
              <a:chExt cx="751710" cy="186887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751710" cy="186887"/>
              </a:xfrm>
              <a:custGeom>
                <a:avLst/>
                <a:gdLst/>
                <a:ahLst/>
                <a:cxnLst/>
                <a:rect r="r" b="b" t="t" l="l"/>
                <a:pathLst>
                  <a:path h="186887" w="751710">
                    <a:moveTo>
                      <a:pt x="751710" y="54250"/>
                    </a:moveTo>
                    <a:lnTo>
                      <a:pt x="751710" y="132637"/>
                    </a:lnTo>
                    <a:cubicBezTo>
                      <a:pt x="751710" y="147025"/>
                      <a:pt x="745995" y="160824"/>
                      <a:pt x="735821" y="170997"/>
                    </a:cubicBezTo>
                    <a:cubicBezTo>
                      <a:pt x="725647" y="181171"/>
                      <a:pt x="711848" y="186887"/>
                      <a:pt x="697460" y="186887"/>
                    </a:cubicBezTo>
                    <a:lnTo>
                      <a:pt x="54250" y="186887"/>
                    </a:lnTo>
                    <a:cubicBezTo>
                      <a:pt x="39862" y="186887"/>
                      <a:pt x="26063" y="181171"/>
                      <a:pt x="15890" y="170997"/>
                    </a:cubicBezTo>
                    <a:cubicBezTo>
                      <a:pt x="5716" y="160824"/>
                      <a:pt x="0" y="147025"/>
                      <a:pt x="0" y="132637"/>
                    </a:cubicBezTo>
                    <a:lnTo>
                      <a:pt x="0" y="54250"/>
                    </a:lnTo>
                    <a:cubicBezTo>
                      <a:pt x="0" y="39862"/>
                      <a:pt x="5716" y="26063"/>
                      <a:pt x="15890" y="15890"/>
                    </a:cubicBezTo>
                    <a:cubicBezTo>
                      <a:pt x="26063" y="5716"/>
                      <a:pt x="39862" y="0"/>
                      <a:pt x="54250" y="0"/>
                    </a:cubicBezTo>
                    <a:lnTo>
                      <a:pt x="697460" y="0"/>
                    </a:lnTo>
                    <a:cubicBezTo>
                      <a:pt x="727422" y="0"/>
                      <a:pt x="751710" y="24289"/>
                      <a:pt x="751710" y="54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57150"/>
                <a:ext cx="751710" cy="2440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18493207" y="2598205"/>
              <a:ext cx="3805253" cy="888737"/>
              <a:chOff x="0" y="0"/>
              <a:chExt cx="751655" cy="175503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751655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751655">
                    <a:moveTo>
                      <a:pt x="751655" y="54254"/>
                    </a:moveTo>
                    <a:lnTo>
                      <a:pt x="751655" y="121248"/>
                    </a:lnTo>
                    <a:cubicBezTo>
                      <a:pt x="751655" y="151212"/>
                      <a:pt x="727364" y="175503"/>
                      <a:pt x="697401" y="175503"/>
                    </a:cubicBezTo>
                    <a:lnTo>
                      <a:pt x="54254" y="175503"/>
                    </a:lnTo>
                    <a:cubicBezTo>
                      <a:pt x="39865" y="175503"/>
                      <a:pt x="26065" y="169787"/>
                      <a:pt x="15891" y="159612"/>
                    </a:cubicBezTo>
                    <a:cubicBezTo>
                      <a:pt x="5716" y="149437"/>
                      <a:pt x="0" y="135637"/>
                      <a:pt x="0" y="121248"/>
                    </a:cubicBezTo>
                    <a:lnTo>
                      <a:pt x="0" y="54254"/>
                    </a:lnTo>
                    <a:cubicBezTo>
                      <a:pt x="0" y="39865"/>
                      <a:pt x="5716" y="26065"/>
                      <a:pt x="15891" y="15891"/>
                    </a:cubicBezTo>
                    <a:cubicBezTo>
                      <a:pt x="26065" y="5716"/>
                      <a:pt x="39865" y="0"/>
                      <a:pt x="54254" y="0"/>
                    </a:cubicBezTo>
                    <a:lnTo>
                      <a:pt x="697401" y="0"/>
                    </a:lnTo>
                    <a:cubicBezTo>
                      <a:pt x="711790" y="0"/>
                      <a:pt x="725590" y="5716"/>
                      <a:pt x="735764" y="15891"/>
                    </a:cubicBezTo>
                    <a:cubicBezTo>
                      <a:pt x="745939" y="26065"/>
                      <a:pt x="751655" y="39865"/>
                      <a:pt x="751655" y="542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0" y="-57150"/>
                <a:ext cx="751655" cy="232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18483566" y="5273881"/>
              <a:ext cx="3805253" cy="806075"/>
              <a:chOff x="0" y="0"/>
              <a:chExt cx="751655" cy="159179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751655" cy="159179"/>
              </a:xfrm>
              <a:custGeom>
                <a:avLst/>
                <a:gdLst/>
                <a:ahLst/>
                <a:cxnLst/>
                <a:rect r="r" b="b" t="t" l="l"/>
                <a:pathLst>
                  <a:path h="159179" w="751655">
                    <a:moveTo>
                      <a:pt x="751655" y="54254"/>
                    </a:moveTo>
                    <a:lnTo>
                      <a:pt x="751655" y="104925"/>
                    </a:lnTo>
                    <a:cubicBezTo>
                      <a:pt x="751655" y="134889"/>
                      <a:pt x="727364" y="159179"/>
                      <a:pt x="697401" y="159179"/>
                    </a:cubicBezTo>
                    <a:lnTo>
                      <a:pt x="54254" y="159179"/>
                    </a:lnTo>
                    <a:cubicBezTo>
                      <a:pt x="39865" y="159179"/>
                      <a:pt x="26065" y="153463"/>
                      <a:pt x="15891" y="143288"/>
                    </a:cubicBezTo>
                    <a:cubicBezTo>
                      <a:pt x="5716" y="133114"/>
                      <a:pt x="0" y="119314"/>
                      <a:pt x="0" y="104925"/>
                    </a:cubicBezTo>
                    <a:lnTo>
                      <a:pt x="0" y="54254"/>
                    </a:lnTo>
                    <a:cubicBezTo>
                      <a:pt x="0" y="39865"/>
                      <a:pt x="5716" y="26065"/>
                      <a:pt x="15891" y="15891"/>
                    </a:cubicBezTo>
                    <a:cubicBezTo>
                      <a:pt x="26065" y="5716"/>
                      <a:pt x="39865" y="0"/>
                      <a:pt x="54254" y="0"/>
                    </a:cubicBezTo>
                    <a:lnTo>
                      <a:pt x="697401" y="0"/>
                    </a:lnTo>
                    <a:cubicBezTo>
                      <a:pt x="711790" y="0"/>
                      <a:pt x="725590" y="5716"/>
                      <a:pt x="735764" y="15891"/>
                    </a:cubicBezTo>
                    <a:cubicBezTo>
                      <a:pt x="745939" y="26065"/>
                      <a:pt x="751655" y="39865"/>
                      <a:pt x="751655" y="542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0" y="-57150"/>
                <a:ext cx="751655" cy="216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18483566" y="6535408"/>
              <a:ext cx="3805253" cy="670484"/>
              <a:chOff x="0" y="0"/>
              <a:chExt cx="751655" cy="132403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751655" cy="132403"/>
              </a:xfrm>
              <a:custGeom>
                <a:avLst/>
                <a:gdLst/>
                <a:ahLst/>
                <a:cxnLst/>
                <a:rect r="r" b="b" t="t" l="l"/>
                <a:pathLst>
                  <a:path h="132403" w="751655">
                    <a:moveTo>
                      <a:pt x="751655" y="54254"/>
                    </a:moveTo>
                    <a:lnTo>
                      <a:pt x="751655" y="78149"/>
                    </a:lnTo>
                    <a:cubicBezTo>
                      <a:pt x="751655" y="92538"/>
                      <a:pt x="745939" y="106338"/>
                      <a:pt x="735764" y="116513"/>
                    </a:cubicBezTo>
                    <a:cubicBezTo>
                      <a:pt x="725590" y="126687"/>
                      <a:pt x="711790" y="132403"/>
                      <a:pt x="697401" y="132403"/>
                    </a:cubicBezTo>
                    <a:lnTo>
                      <a:pt x="54254" y="132403"/>
                    </a:lnTo>
                    <a:cubicBezTo>
                      <a:pt x="39865" y="132403"/>
                      <a:pt x="26065" y="126687"/>
                      <a:pt x="15891" y="116513"/>
                    </a:cubicBezTo>
                    <a:cubicBezTo>
                      <a:pt x="5716" y="106338"/>
                      <a:pt x="0" y="92538"/>
                      <a:pt x="0" y="78149"/>
                    </a:cubicBezTo>
                    <a:lnTo>
                      <a:pt x="0" y="54254"/>
                    </a:lnTo>
                    <a:cubicBezTo>
                      <a:pt x="0" y="39865"/>
                      <a:pt x="5716" y="26065"/>
                      <a:pt x="15891" y="15891"/>
                    </a:cubicBezTo>
                    <a:cubicBezTo>
                      <a:pt x="26065" y="5716"/>
                      <a:pt x="39865" y="0"/>
                      <a:pt x="54254" y="0"/>
                    </a:cubicBezTo>
                    <a:lnTo>
                      <a:pt x="697401" y="0"/>
                    </a:lnTo>
                    <a:cubicBezTo>
                      <a:pt x="711790" y="0"/>
                      <a:pt x="725590" y="5716"/>
                      <a:pt x="735764" y="15891"/>
                    </a:cubicBezTo>
                    <a:cubicBezTo>
                      <a:pt x="745939" y="26065"/>
                      <a:pt x="751655" y="39865"/>
                      <a:pt x="751655" y="542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0" y="-57150"/>
                <a:ext cx="751655" cy="1895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18483566" y="7548791"/>
              <a:ext cx="3805253" cy="689744"/>
              <a:chOff x="0" y="0"/>
              <a:chExt cx="751655" cy="136207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751655" cy="136207"/>
              </a:xfrm>
              <a:custGeom>
                <a:avLst/>
                <a:gdLst/>
                <a:ahLst/>
                <a:cxnLst/>
                <a:rect r="r" b="b" t="t" l="l"/>
                <a:pathLst>
                  <a:path h="136207" w="751655">
                    <a:moveTo>
                      <a:pt x="751655" y="54254"/>
                    </a:moveTo>
                    <a:lnTo>
                      <a:pt x="751655" y="81952"/>
                    </a:lnTo>
                    <a:cubicBezTo>
                      <a:pt x="751655" y="96341"/>
                      <a:pt x="745939" y="110141"/>
                      <a:pt x="735764" y="120316"/>
                    </a:cubicBezTo>
                    <a:cubicBezTo>
                      <a:pt x="725590" y="130491"/>
                      <a:pt x="711790" y="136207"/>
                      <a:pt x="697401" y="136207"/>
                    </a:cubicBezTo>
                    <a:lnTo>
                      <a:pt x="54254" y="136207"/>
                    </a:lnTo>
                    <a:cubicBezTo>
                      <a:pt x="24290" y="136207"/>
                      <a:pt x="0" y="111916"/>
                      <a:pt x="0" y="81952"/>
                    </a:cubicBezTo>
                    <a:lnTo>
                      <a:pt x="0" y="54254"/>
                    </a:lnTo>
                    <a:cubicBezTo>
                      <a:pt x="0" y="39865"/>
                      <a:pt x="5716" y="26065"/>
                      <a:pt x="15891" y="15891"/>
                    </a:cubicBezTo>
                    <a:cubicBezTo>
                      <a:pt x="26065" y="5716"/>
                      <a:pt x="39865" y="0"/>
                      <a:pt x="54254" y="0"/>
                    </a:cubicBezTo>
                    <a:lnTo>
                      <a:pt x="697401" y="0"/>
                    </a:lnTo>
                    <a:cubicBezTo>
                      <a:pt x="711790" y="0"/>
                      <a:pt x="725590" y="5716"/>
                      <a:pt x="735764" y="15891"/>
                    </a:cubicBezTo>
                    <a:cubicBezTo>
                      <a:pt x="745939" y="26065"/>
                      <a:pt x="751655" y="39865"/>
                      <a:pt x="751655" y="54254"/>
                    </a:cubicBezTo>
                    <a:close/>
                  </a:path>
                </a:pathLst>
              </a:custGeom>
              <a:solidFill>
                <a:srgbClr val="C2F6FF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0" y="-57150"/>
                <a:ext cx="751655" cy="193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sp>
          <p:nvSpPr>
            <p:cNvPr name="TextBox 133" id="133"/>
            <p:cNvSpPr txBox="true"/>
            <p:nvPr/>
          </p:nvSpPr>
          <p:spPr>
            <a:xfrm rot="0">
              <a:off x="18582627" y="2711689"/>
              <a:ext cx="355472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0.1182</a:t>
              </a:r>
            </a:p>
          </p:txBody>
        </p:sp>
        <p:sp>
          <p:nvSpPr>
            <p:cNvPr name="TextBox 134" id="134"/>
            <p:cNvSpPr txBox="true"/>
            <p:nvPr/>
          </p:nvSpPr>
          <p:spPr>
            <a:xfrm rot="0">
              <a:off x="18547674" y="4042369"/>
              <a:ext cx="3731498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0.1177</a:t>
              </a:r>
            </a:p>
          </p:txBody>
        </p:sp>
        <p:sp>
          <p:nvSpPr>
            <p:cNvPr name="TextBox 135" id="135"/>
            <p:cNvSpPr txBox="true"/>
            <p:nvPr/>
          </p:nvSpPr>
          <p:spPr>
            <a:xfrm rot="0">
              <a:off x="18633494" y="5345729"/>
              <a:ext cx="356423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0.1177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18572986" y="6546987"/>
              <a:ext cx="356423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0.0992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18572986" y="7570000"/>
              <a:ext cx="3564232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0.0907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23999" y="1827331"/>
            <a:ext cx="17220952" cy="4789405"/>
          </a:xfrm>
          <a:custGeom>
            <a:avLst/>
            <a:gdLst/>
            <a:ahLst/>
            <a:cxnLst/>
            <a:rect r="r" b="b" t="t" l="l"/>
            <a:pathLst>
              <a:path h="4789405" w="17220952">
                <a:moveTo>
                  <a:pt x="0" y="0"/>
                </a:moveTo>
                <a:lnTo>
                  <a:pt x="17220952" y="0"/>
                </a:lnTo>
                <a:lnTo>
                  <a:pt x="17220952" y="4789405"/>
                </a:lnTo>
                <a:lnTo>
                  <a:pt x="0" y="4789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72" r="0" b="-954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741723" y="6549563"/>
            <a:ext cx="8577666" cy="2708737"/>
          </a:xfrm>
          <a:custGeom>
            <a:avLst/>
            <a:gdLst/>
            <a:ahLst/>
            <a:cxnLst/>
            <a:rect r="r" b="b" t="t" l="l"/>
            <a:pathLst>
              <a:path h="2708737" w="8577666">
                <a:moveTo>
                  <a:pt x="0" y="0"/>
                </a:moveTo>
                <a:lnTo>
                  <a:pt x="8577666" y="0"/>
                </a:lnTo>
                <a:lnTo>
                  <a:pt x="8577666" y="2708737"/>
                </a:lnTo>
                <a:lnTo>
                  <a:pt x="0" y="2708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43236" y="9517457"/>
            <a:ext cx="1113253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12/16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Eksperimen Rekomendasi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2723" y="1365959"/>
            <a:ext cx="7658001" cy="6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Eksperimen Sistem Rekomendasi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34475" y="150497"/>
            <a:ext cx="3830986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729119"/>
            <a:ext cx="15611127" cy="2832051"/>
            <a:chOff x="0" y="0"/>
            <a:chExt cx="20814836" cy="377606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412964" cy="971435"/>
              <a:chOff x="0" y="0"/>
              <a:chExt cx="1158919" cy="17550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58919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58919">
                    <a:moveTo>
                      <a:pt x="1158919" y="24145"/>
                    </a:moveTo>
                    <a:lnTo>
                      <a:pt x="1158919" y="151358"/>
                    </a:lnTo>
                    <a:cubicBezTo>
                      <a:pt x="1158919" y="157762"/>
                      <a:pt x="1156376" y="163903"/>
                      <a:pt x="1151848" y="168431"/>
                    </a:cubicBezTo>
                    <a:cubicBezTo>
                      <a:pt x="1147320" y="172959"/>
                      <a:pt x="1141178" y="175503"/>
                      <a:pt x="1134775" y="175503"/>
                    </a:cubicBezTo>
                    <a:lnTo>
                      <a:pt x="24145" y="175503"/>
                    </a:lnTo>
                    <a:cubicBezTo>
                      <a:pt x="17741" y="175503"/>
                      <a:pt x="11600" y="172959"/>
                      <a:pt x="7072" y="168431"/>
                    </a:cubicBezTo>
                    <a:cubicBezTo>
                      <a:pt x="2544" y="163903"/>
                      <a:pt x="0" y="157762"/>
                      <a:pt x="0" y="151358"/>
                    </a:cubicBezTo>
                    <a:lnTo>
                      <a:pt x="0" y="24145"/>
                    </a:lnTo>
                    <a:cubicBezTo>
                      <a:pt x="0" y="17741"/>
                      <a:pt x="2544" y="11600"/>
                      <a:pt x="7072" y="7072"/>
                    </a:cubicBezTo>
                    <a:cubicBezTo>
                      <a:pt x="11600" y="2544"/>
                      <a:pt x="17741" y="0"/>
                      <a:pt x="24145" y="0"/>
                    </a:cubicBezTo>
                    <a:lnTo>
                      <a:pt x="1134775" y="0"/>
                    </a:lnTo>
                    <a:cubicBezTo>
                      <a:pt x="1141178" y="0"/>
                      <a:pt x="1147320" y="2544"/>
                      <a:pt x="1151848" y="7072"/>
                    </a:cubicBezTo>
                    <a:cubicBezTo>
                      <a:pt x="1156376" y="11600"/>
                      <a:pt x="1158919" y="17741"/>
                      <a:pt x="1158919" y="24145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158919" cy="2136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6634290" y="0"/>
              <a:ext cx="4578777" cy="971435"/>
              <a:chOff x="0" y="0"/>
              <a:chExt cx="827454" cy="17550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27454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827454">
                    <a:moveTo>
                      <a:pt x="827454" y="45089"/>
                    </a:moveTo>
                    <a:lnTo>
                      <a:pt x="827454" y="130414"/>
                    </a:lnTo>
                    <a:cubicBezTo>
                      <a:pt x="827454" y="155316"/>
                      <a:pt x="807267" y="175503"/>
                      <a:pt x="782365" y="175503"/>
                    </a:cubicBezTo>
                    <a:lnTo>
                      <a:pt x="45089" y="175503"/>
                    </a:lnTo>
                    <a:cubicBezTo>
                      <a:pt x="33130" y="175503"/>
                      <a:pt x="21662" y="170752"/>
                      <a:pt x="13206" y="162296"/>
                    </a:cubicBezTo>
                    <a:cubicBezTo>
                      <a:pt x="4750" y="153841"/>
                      <a:pt x="0" y="142372"/>
                      <a:pt x="0" y="130414"/>
                    </a:cubicBezTo>
                    <a:lnTo>
                      <a:pt x="0" y="45089"/>
                    </a:lnTo>
                    <a:cubicBezTo>
                      <a:pt x="0" y="33130"/>
                      <a:pt x="4750" y="21662"/>
                      <a:pt x="13206" y="13206"/>
                    </a:cubicBezTo>
                    <a:cubicBezTo>
                      <a:pt x="21662" y="4750"/>
                      <a:pt x="33130" y="0"/>
                      <a:pt x="45089" y="0"/>
                    </a:cubicBezTo>
                    <a:lnTo>
                      <a:pt x="782365" y="0"/>
                    </a:lnTo>
                    <a:cubicBezTo>
                      <a:pt x="794324" y="0"/>
                      <a:pt x="805792" y="4750"/>
                      <a:pt x="814248" y="13206"/>
                    </a:cubicBezTo>
                    <a:cubicBezTo>
                      <a:pt x="822704" y="21662"/>
                      <a:pt x="827454" y="33130"/>
                      <a:pt x="827454" y="45089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27454" cy="2136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90687" y="76355"/>
              <a:ext cx="5994054" cy="742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90"/>
                </a:lnSpc>
                <a:spcBef>
                  <a:spcPct val="0"/>
                </a:spcBef>
              </a:pPr>
              <a:r>
                <a:rPr lang="en-US" b="true" sz="3279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Nama Model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971930" y="76355"/>
              <a:ext cx="3826730" cy="742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90"/>
                </a:lnSpc>
                <a:spcBef>
                  <a:spcPct val="0"/>
                </a:spcBef>
              </a:pPr>
              <a:r>
                <a:rPr lang="en-US" b="true" sz="3279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Precision@5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1505268"/>
              <a:ext cx="6412964" cy="971435"/>
              <a:chOff x="0" y="0"/>
              <a:chExt cx="1158919" cy="17550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58919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1158919">
                    <a:moveTo>
                      <a:pt x="1158919" y="24145"/>
                    </a:moveTo>
                    <a:lnTo>
                      <a:pt x="1158919" y="151358"/>
                    </a:lnTo>
                    <a:cubicBezTo>
                      <a:pt x="1158919" y="157762"/>
                      <a:pt x="1156376" y="163903"/>
                      <a:pt x="1151848" y="168431"/>
                    </a:cubicBezTo>
                    <a:cubicBezTo>
                      <a:pt x="1147320" y="172959"/>
                      <a:pt x="1141178" y="175503"/>
                      <a:pt x="1134775" y="175503"/>
                    </a:cubicBezTo>
                    <a:lnTo>
                      <a:pt x="24145" y="175503"/>
                    </a:lnTo>
                    <a:cubicBezTo>
                      <a:pt x="17741" y="175503"/>
                      <a:pt x="11600" y="172959"/>
                      <a:pt x="7072" y="168431"/>
                    </a:cubicBezTo>
                    <a:cubicBezTo>
                      <a:pt x="2544" y="163903"/>
                      <a:pt x="0" y="157762"/>
                      <a:pt x="0" y="151358"/>
                    </a:cubicBezTo>
                    <a:lnTo>
                      <a:pt x="0" y="24145"/>
                    </a:lnTo>
                    <a:cubicBezTo>
                      <a:pt x="0" y="17741"/>
                      <a:pt x="2544" y="11600"/>
                      <a:pt x="7072" y="7072"/>
                    </a:cubicBezTo>
                    <a:cubicBezTo>
                      <a:pt x="11600" y="2544"/>
                      <a:pt x="17741" y="0"/>
                      <a:pt x="24145" y="0"/>
                    </a:cubicBezTo>
                    <a:lnTo>
                      <a:pt x="1134775" y="0"/>
                    </a:lnTo>
                    <a:cubicBezTo>
                      <a:pt x="1141178" y="0"/>
                      <a:pt x="1147320" y="2544"/>
                      <a:pt x="1151848" y="7072"/>
                    </a:cubicBezTo>
                    <a:cubicBezTo>
                      <a:pt x="1156376" y="11600"/>
                      <a:pt x="1158919" y="17741"/>
                      <a:pt x="1158919" y="24145"/>
                    </a:cubicBezTo>
                    <a:close/>
                  </a:path>
                </a:pathLst>
              </a:custGeom>
              <a:solidFill>
                <a:srgbClr val="FFFFFE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158919" cy="2136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90687" y="1615925"/>
              <a:ext cx="6058212" cy="62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5"/>
                </a:lnSpc>
                <a:spcBef>
                  <a:spcPct val="0"/>
                </a:spcBef>
              </a:pP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TF-IDF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+ Cosine Similarity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0" y="2823746"/>
              <a:ext cx="6412964" cy="952322"/>
              <a:chOff x="0" y="0"/>
              <a:chExt cx="1158919" cy="17205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158919" cy="172050"/>
              </a:xfrm>
              <a:custGeom>
                <a:avLst/>
                <a:gdLst/>
                <a:ahLst/>
                <a:cxnLst/>
                <a:rect r="r" b="b" t="t" l="l"/>
                <a:pathLst>
                  <a:path h="172050" w="1158919">
                    <a:moveTo>
                      <a:pt x="1158919" y="24145"/>
                    </a:moveTo>
                    <a:lnTo>
                      <a:pt x="1158919" y="147905"/>
                    </a:lnTo>
                    <a:cubicBezTo>
                      <a:pt x="1158919" y="154309"/>
                      <a:pt x="1156376" y="160450"/>
                      <a:pt x="1151848" y="164978"/>
                    </a:cubicBezTo>
                    <a:cubicBezTo>
                      <a:pt x="1147320" y="169506"/>
                      <a:pt x="1141178" y="172050"/>
                      <a:pt x="1134775" y="172050"/>
                    </a:cubicBezTo>
                    <a:lnTo>
                      <a:pt x="24145" y="172050"/>
                    </a:lnTo>
                    <a:cubicBezTo>
                      <a:pt x="17741" y="172050"/>
                      <a:pt x="11600" y="169506"/>
                      <a:pt x="7072" y="164978"/>
                    </a:cubicBezTo>
                    <a:cubicBezTo>
                      <a:pt x="2544" y="160450"/>
                      <a:pt x="0" y="154309"/>
                      <a:pt x="0" y="147905"/>
                    </a:cubicBezTo>
                    <a:lnTo>
                      <a:pt x="0" y="24145"/>
                    </a:lnTo>
                    <a:cubicBezTo>
                      <a:pt x="0" y="17741"/>
                      <a:pt x="2544" y="11600"/>
                      <a:pt x="7072" y="7072"/>
                    </a:cubicBezTo>
                    <a:cubicBezTo>
                      <a:pt x="11600" y="2544"/>
                      <a:pt x="17741" y="0"/>
                      <a:pt x="24145" y="0"/>
                    </a:cubicBezTo>
                    <a:lnTo>
                      <a:pt x="1134775" y="0"/>
                    </a:lnTo>
                    <a:cubicBezTo>
                      <a:pt x="1141178" y="0"/>
                      <a:pt x="1147320" y="2544"/>
                      <a:pt x="1151848" y="7072"/>
                    </a:cubicBezTo>
                    <a:cubicBezTo>
                      <a:pt x="1156376" y="11600"/>
                      <a:pt x="1158919" y="17741"/>
                      <a:pt x="1158919" y="24145"/>
                    </a:cubicBezTo>
                    <a:close/>
                  </a:path>
                </a:pathLst>
              </a:custGeom>
              <a:solidFill>
                <a:srgbClr val="C2F6FF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158919" cy="210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90687" y="2955455"/>
              <a:ext cx="6058212" cy="62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25"/>
                </a:lnSpc>
                <a:spcBef>
                  <a:spcPct val="0"/>
                </a:spcBef>
              </a:pP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BERT 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+ 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Cos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 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Sim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ri</a:t>
              </a:r>
              <a:r>
                <a:rPr lang="en-US" b="true" sz="2732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ty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6634290" y="1479415"/>
              <a:ext cx="4578777" cy="963754"/>
              <a:chOff x="0" y="0"/>
              <a:chExt cx="827454" cy="17411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27454" cy="174115"/>
              </a:xfrm>
              <a:custGeom>
                <a:avLst/>
                <a:gdLst/>
                <a:ahLst/>
                <a:cxnLst/>
                <a:rect r="r" b="b" t="t" l="l"/>
                <a:pathLst>
                  <a:path h="174115" w="827454">
                    <a:moveTo>
                      <a:pt x="827454" y="45089"/>
                    </a:moveTo>
                    <a:lnTo>
                      <a:pt x="827454" y="129026"/>
                    </a:lnTo>
                    <a:cubicBezTo>
                      <a:pt x="827454" y="140985"/>
                      <a:pt x="822704" y="152453"/>
                      <a:pt x="814248" y="160909"/>
                    </a:cubicBezTo>
                    <a:cubicBezTo>
                      <a:pt x="805792" y="169365"/>
                      <a:pt x="794324" y="174115"/>
                      <a:pt x="782365" y="174115"/>
                    </a:cubicBezTo>
                    <a:lnTo>
                      <a:pt x="45089" y="174115"/>
                    </a:lnTo>
                    <a:cubicBezTo>
                      <a:pt x="20187" y="174115"/>
                      <a:pt x="0" y="153928"/>
                      <a:pt x="0" y="129026"/>
                    </a:cubicBezTo>
                    <a:lnTo>
                      <a:pt x="0" y="45089"/>
                    </a:lnTo>
                    <a:cubicBezTo>
                      <a:pt x="0" y="33130"/>
                      <a:pt x="4750" y="21662"/>
                      <a:pt x="13206" y="13206"/>
                    </a:cubicBezTo>
                    <a:cubicBezTo>
                      <a:pt x="21662" y="4750"/>
                      <a:pt x="33130" y="0"/>
                      <a:pt x="45089" y="0"/>
                    </a:cubicBezTo>
                    <a:lnTo>
                      <a:pt x="782365" y="0"/>
                    </a:lnTo>
                    <a:cubicBezTo>
                      <a:pt x="794324" y="0"/>
                      <a:pt x="805792" y="4750"/>
                      <a:pt x="814248" y="13206"/>
                    </a:cubicBezTo>
                    <a:cubicBezTo>
                      <a:pt x="822704" y="21662"/>
                      <a:pt x="827454" y="33130"/>
                      <a:pt x="827454" y="45089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827454" cy="2122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6688084" y="1635516"/>
              <a:ext cx="4524645" cy="628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0.7631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6634290" y="2823746"/>
              <a:ext cx="4578439" cy="952322"/>
              <a:chOff x="0" y="0"/>
              <a:chExt cx="827393" cy="17205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27393" cy="172050"/>
              </a:xfrm>
              <a:custGeom>
                <a:avLst/>
                <a:gdLst/>
                <a:ahLst/>
                <a:cxnLst/>
                <a:rect r="r" b="b" t="t" l="l"/>
                <a:pathLst>
                  <a:path h="172050" w="827393">
                    <a:moveTo>
                      <a:pt x="827393" y="45092"/>
                    </a:moveTo>
                    <a:lnTo>
                      <a:pt x="827393" y="126958"/>
                    </a:lnTo>
                    <a:cubicBezTo>
                      <a:pt x="827393" y="138917"/>
                      <a:pt x="822642" y="150386"/>
                      <a:pt x="814186" y="158842"/>
                    </a:cubicBezTo>
                    <a:cubicBezTo>
                      <a:pt x="805730" y="167299"/>
                      <a:pt x="794260" y="172050"/>
                      <a:pt x="782301" y="172050"/>
                    </a:cubicBezTo>
                    <a:lnTo>
                      <a:pt x="45092" y="172050"/>
                    </a:lnTo>
                    <a:cubicBezTo>
                      <a:pt x="20188" y="172050"/>
                      <a:pt x="0" y="151861"/>
                      <a:pt x="0" y="126958"/>
                    </a:cubicBezTo>
                    <a:lnTo>
                      <a:pt x="0" y="45092"/>
                    </a:lnTo>
                    <a:cubicBezTo>
                      <a:pt x="0" y="33133"/>
                      <a:pt x="4751" y="21664"/>
                      <a:pt x="13207" y="13207"/>
                    </a:cubicBezTo>
                    <a:cubicBezTo>
                      <a:pt x="21664" y="4751"/>
                      <a:pt x="33133" y="0"/>
                      <a:pt x="45092" y="0"/>
                    </a:cubicBezTo>
                    <a:lnTo>
                      <a:pt x="782301" y="0"/>
                    </a:lnTo>
                    <a:cubicBezTo>
                      <a:pt x="794260" y="0"/>
                      <a:pt x="805730" y="4751"/>
                      <a:pt x="814186" y="13207"/>
                    </a:cubicBezTo>
                    <a:cubicBezTo>
                      <a:pt x="822642" y="21664"/>
                      <a:pt x="827393" y="33133"/>
                      <a:pt x="827393" y="45092"/>
                    </a:cubicBezTo>
                    <a:close/>
                  </a:path>
                </a:pathLst>
              </a:custGeom>
              <a:solidFill>
                <a:srgbClr val="C2F6FF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827393" cy="210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6741879" y="2949195"/>
              <a:ext cx="4347517" cy="628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0.9960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11435175" y="1505268"/>
              <a:ext cx="4578777" cy="963754"/>
              <a:chOff x="0" y="0"/>
              <a:chExt cx="827454" cy="17411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27454" cy="174115"/>
              </a:xfrm>
              <a:custGeom>
                <a:avLst/>
                <a:gdLst/>
                <a:ahLst/>
                <a:cxnLst/>
                <a:rect r="r" b="b" t="t" l="l"/>
                <a:pathLst>
                  <a:path h="174115" w="827454">
                    <a:moveTo>
                      <a:pt x="827454" y="45089"/>
                    </a:moveTo>
                    <a:lnTo>
                      <a:pt x="827454" y="129026"/>
                    </a:lnTo>
                    <a:cubicBezTo>
                      <a:pt x="827454" y="140985"/>
                      <a:pt x="822704" y="152453"/>
                      <a:pt x="814248" y="160909"/>
                    </a:cubicBezTo>
                    <a:cubicBezTo>
                      <a:pt x="805792" y="169365"/>
                      <a:pt x="794324" y="174115"/>
                      <a:pt x="782365" y="174115"/>
                    </a:cubicBezTo>
                    <a:lnTo>
                      <a:pt x="45089" y="174115"/>
                    </a:lnTo>
                    <a:cubicBezTo>
                      <a:pt x="20187" y="174115"/>
                      <a:pt x="0" y="153928"/>
                      <a:pt x="0" y="129026"/>
                    </a:cubicBezTo>
                    <a:lnTo>
                      <a:pt x="0" y="45089"/>
                    </a:lnTo>
                    <a:cubicBezTo>
                      <a:pt x="0" y="33130"/>
                      <a:pt x="4750" y="21662"/>
                      <a:pt x="13206" y="13206"/>
                    </a:cubicBezTo>
                    <a:cubicBezTo>
                      <a:pt x="21662" y="4750"/>
                      <a:pt x="33130" y="0"/>
                      <a:pt x="45089" y="0"/>
                    </a:cubicBezTo>
                    <a:lnTo>
                      <a:pt x="782365" y="0"/>
                    </a:lnTo>
                    <a:cubicBezTo>
                      <a:pt x="794324" y="0"/>
                      <a:pt x="805792" y="4750"/>
                      <a:pt x="814248" y="13206"/>
                    </a:cubicBezTo>
                    <a:cubicBezTo>
                      <a:pt x="822704" y="21662"/>
                      <a:pt x="827454" y="33130"/>
                      <a:pt x="827454" y="45089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827454" cy="2122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11488969" y="1661368"/>
              <a:ext cx="4524645" cy="628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0.7499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11435175" y="2849598"/>
              <a:ext cx="4578439" cy="926469"/>
              <a:chOff x="0" y="0"/>
              <a:chExt cx="827393" cy="16737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27393" cy="167379"/>
              </a:xfrm>
              <a:custGeom>
                <a:avLst/>
                <a:gdLst/>
                <a:ahLst/>
                <a:cxnLst/>
                <a:rect r="r" b="b" t="t" l="l"/>
                <a:pathLst>
                  <a:path h="167379" w="827393">
                    <a:moveTo>
                      <a:pt x="827393" y="45092"/>
                    </a:moveTo>
                    <a:lnTo>
                      <a:pt x="827393" y="122287"/>
                    </a:lnTo>
                    <a:cubicBezTo>
                      <a:pt x="827393" y="147191"/>
                      <a:pt x="807205" y="167379"/>
                      <a:pt x="782301" y="167379"/>
                    </a:cubicBezTo>
                    <a:lnTo>
                      <a:pt x="45092" y="167379"/>
                    </a:lnTo>
                    <a:cubicBezTo>
                      <a:pt x="33133" y="167379"/>
                      <a:pt x="21664" y="162628"/>
                      <a:pt x="13207" y="154172"/>
                    </a:cubicBezTo>
                    <a:cubicBezTo>
                      <a:pt x="4751" y="145715"/>
                      <a:pt x="0" y="134246"/>
                      <a:pt x="0" y="122287"/>
                    </a:cubicBezTo>
                    <a:lnTo>
                      <a:pt x="0" y="45092"/>
                    </a:lnTo>
                    <a:cubicBezTo>
                      <a:pt x="0" y="33133"/>
                      <a:pt x="4751" y="21664"/>
                      <a:pt x="13207" y="13207"/>
                    </a:cubicBezTo>
                    <a:cubicBezTo>
                      <a:pt x="21664" y="4751"/>
                      <a:pt x="33133" y="0"/>
                      <a:pt x="45092" y="0"/>
                    </a:cubicBezTo>
                    <a:lnTo>
                      <a:pt x="782301" y="0"/>
                    </a:lnTo>
                    <a:cubicBezTo>
                      <a:pt x="794260" y="0"/>
                      <a:pt x="805730" y="4751"/>
                      <a:pt x="814186" y="13207"/>
                    </a:cubicBezTo>
                    <a:cubicBezTo>
                      <a:pt x="822642" y="21664"/>
                      <a:pt x="827393" y="33133"/>
                      <a:pt x="827393" y="45092"/>
                    </a:cubicBezTo>
                    <a:close/>
                  </a:path>
                </a:pathLst>
              </a:custGeom>
              <a:solidFill>
                <a:srgbClr val="C2F6FF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827393" cy="205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11542764" y="2949195"/>
              <a:ext cx="4347517" cy="628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0.9959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16236059" y="1491386"/>
              <a:ext cx="4578777" cy="963754"/>
              <a:chOff x="0" y="0"/>
              <a:chExt cx="827454" cy="174115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27454" cy="174115"/>
              </a:xfrm>
              <a:custGeom>
                <a:avLst/>
                <a:gdLst/>
                <a:ahLst/>
                <a:cxnLst/>
                <a:rect r="r" b="b" t="t" l="l"/>
                <a:pathLst>
                  <a:path h="174115" w="827454">
                    <a:moveTo>
                      <a:pt x="827454" y="45089"/>
                    </a:moveTo>
                    <a:lnTo>
                      <a:pt x="827454" y="129026"/>
                    </a:lnTo>
                    <a:cubicBezTo>
                      <a:pt x="827454" y="140985"/>
                      <a:pt x="822704" y="152453"/>
                      <a:pt x="814248" y="160909"/>
                    </a:cubicBezTo>
                    <a:cubicBezTo>
                      <a:pt x="805792" y="169365"/>
                      <a:pt x="794324" y="174115"/>
                      <a:pt x="782365" y="174115"/>
                    </a:cubicBezTo>
                    <a:lnTo>
                      <a:pt x="45089" y="174115"/>
                    </a:lnTo>
                    <a:cubicBezTo>
                      <a:pt x="20187" y="174115"/>
                      <a:pt x="0" y="153928"/>
                      <a:pt x="0" y="129026"/>
                    </a:cubicBezTo>
                    <a:lnTo>
                      <a:pt x="0" y="45089"/>
                    </a:lnTo>
                    <a:cubicBezTo>
                      <a:pt x="0" y="33130"/>
                      <a:pt x="4750" y="21662"/>
                      <a:pt x="13206" y="13206"/>
                    </a:cubicBezTo>
                    <a:cubicBezTo>
                      <a:pt x="21662" y="4750"/>
                      <a:pt x="33130" y="0"/>
                      <a:pt x="45089" y="0"/>
                    </a:cubicBezTo>
                    <a:lnTo>
                      <a:pt x="782365" y="0"/>
                    </a:lnTo>
                    <a:cubicBezTo>
                      <a:pt x="794324" y="0"/>
                      <a:pt x="805792" y="4750"/>
                      <a:pt x="814248" y="13206"/>
                    </a:cubicBezTo>
                    <a:cubicBezTo>
                      <a:pt x="822704" y="21662"/>
                      <a:pt x="827454" y="33130"/>
                      <a:pt x="827454" y="45089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827454" cy="2122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16289854" y="1647487"/>
              <a:ext cx="4463166" cy="628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0.7436</a:t>
              </a:r>
            </a:p>
          </p:txBody>
        </p:sp>
        <p:grpSp>
          <p:nvGrpSpPr>
            <p:cNvPr name="Group 54" id="54"/>
            <p:cNvGrpSpPr/>
            <p:nvPr/>
          </p:nvGrpSpPr>
          <p:grpSpPr>
            <a:xfrm rot="0">
              <a:off x="16236059" y="2835716"/>
              <a:ext cx="4578439" cy="940351"/>
              <a:chOff x="0" y="0"/>
              <a:chExt cx="827393" cy="169887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27393" cy="169887"/>
              </a:xfrm>
              <a:custGeom>
                <a:avLst/>
                <a:gdLst/>
                <a:ahLst/>
                <a:cxnLst/>
                <a:rect r="r" b="b" t="t" l="l"/>
                <a:pathLst>
                  <a:path h="169887" w="827393">
                    <a:moveTo>
                      <a:pt x="827393" y="45092"/>
                    </a:moveTo>
                    <a:lnTo>
                      <a:pt x="827393" y="124795"/>
                    </a:lnTo>
                    <a:cubicBezTo>
                      <a:pt x="827393" y="149699"/>
                      <a:pt x="807205" y="169887"/>
                      <a:pt x="782301" y="169887"/>
                    </a:cubicBezTo>
                    <a:lnTo>
                      <a:pt x="45092" y="169887"/>
                    </a:lnTo>
                    <a:cubicBezTo>
                      <a:pt x="33133" y="169887"/>
                      <a:pt x="21664" y="165136"/>
                      <a:pt x="13207" y="156680"/>
                    </a:cubicBezTo>
                    <a:cubicBezTo>
                      <a:pt x="4751" y="148223"/>
                      <a:pt x="0" y="136754"/>
                      <a:pt x="0" y="124795"/>
                    </a:cubicBezTo>
                    <a:lnTo>
                      <a:pt x="0" y="45092"/>
                    </a:lnTo>
                    <a:cubicBezTo>
                      <a:pt x="0" y="33133"/>
                      <a:pt x="4751" y="21664"/>
                      <a:pt x="13207" y="13207"/>
                    </a:cubicBezTo>
                    <a:cubicBezTo>
                      <a:pt x="21664" y="4751"/>
                      <a:pt x="33133" y="0"/>
                      <a:pt x="45092" y="0"/>
                    </a:cubicBezTo>
                    <a:lnTo>
                      <a:pt x="782301" y="0"/>
                    </a:lnTo>
                    <a:cubicBezTo>
                      <a:pt x="794260" y="0"/>
                      <a:pt x="805730" y="4751"/>
                      <a:pt x="814186" y="13207"/>
                    </a:cubicBezTo>
                    <a:cubicBezTo>
                      <a:pt x="822642" y="21664"/>
                      <a:pt x="827393" y="33133"/>
                      <a:pt x="827393" y="45092"/>
                    </a:cubicBezTo>
                    <a:close/>
                  </a:path>
                </a:pathLst>
              </a:custGeom>
              <a:solidFill>
                <a:srgbClr val="C2F6FF"/>
              </a:solidFill>
              <a:ln w="19050" cap="sq">
                <a:solidFill>
                  <a:srgbClr val="000000"/>
                </a:solidFill>
                <a:prstDash val="lgDash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827393" cy="2079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16343648" y="2949195"/>
              <a:ext cx="4288445" cy="628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0.9959</a:t>
              </a:r>
            </a:p>
          </p:txBody>
        </p:sp>
        <p:grpSp>
          <p:nvGrpSpPr>
            <p:cNvPr name="Group 58" id="58"/>
            <p:cNvGrpSpPr/>
            <p:nvPr/>
          </p:nvGrpSpPr>
          <p:grpSpPr>
            <a:xfrm rot="0">
              <a:off x="11435175" y="0"/>
              <a:ext cx="4578777" cy="971435"/>
              <a:chOff x="0" y="0"/>
              <a:chExt cx="827454" cy="175503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27454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827454">
                    <a:moveTo>
                      <a:pt x="827454" y="45089"/>
                    </a:moveTo>
                    <a:lnTo>
                      <a:pt x="827454" y="130414"/>
                    </a:lnTo>
                    <a:cubicBezTo>
                      <a:pt x="827454" y="155316"/>
                      <a:pt x="807267" y="175503"/>
                      <a:pt x="782365" y="175503"/>
                    </a:cubicBezTo>
                    <a:lnTo>
                      <a:pt x="45089" y="175503"/>
                    </a:lnTo>
                    <a:cubicBezTo>
                      <a:pt x="33130" y="175503"/>
                      <a:pt x="21662" y="170752"/>
                      <a:pt x="13206" y="162296"/>
                    </a:cubicBezTo>
                    <a:cubicBezTo>
                      <a:pt x="4750" y="153841"/>
                      <a:pt x="0" y="142372"/>
                      <a:pt x="0" y="130414"/>
                    </a:cubicBezTo>
                    <a:lnTo>
                      <a:pt x="0" y="45089"/>
                    </a:lnTo>
                    <a:cubicBezTo>
                      <a:pt x="0" y="33130"/>
                      <a:pt x="4750" y="21662"/>
                      <a:pt x="13206" y="13206"/>
                    </a:cubicBezTo>
                    <a:cubicBezTo>
                      <a:pt x="21662" y="4750"/>
                      <a:pt x="33130" y="0"/>
                      <a:pt x="45089" y="0"/>
                    </a:cubicBezTo>
                    <a:lnTo>
                      <a:pt x="782365" y="0"/>
                    </a:lnTo>
                    <a:cubicBezTo>
                      <a:pt x="794324" y="0"/>
                      <a:pt x="805792" y="4750"/>
                      <a:pt x="814248" y="13206"/>
                    </a:cubicBezTo>
                    <a:cubicBezTo>
                      <a:pt x="822704" y="21662"/>
                      <a:pt x="827454" y="33130"/>
                      <a:pt x="827454" y="45089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827454" cy="2136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11772815" y="76355"/>
              <a:ext cx="3826730" cy="742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90"/>
                </a:lnSpc>
                <a:spcBef>
                  <a:spcPct val="0"/>
                </a:spcBef>
              </a:pPr>
              <a:r>
                <a:rPr lang="en-US" b="true" sz="3279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Precision@10</a:t>
              </a:r>
            </a:p>
          </p:txBody>
        </p:sp>
        <p:grpSp>
          <p:nvGrpSpPr>
            <p:cNvPr name="Group 62" id="62"/>
            <p:cNvGrpSpPr/>
            <p:nvPr/>
          </p:nvGrpSpPr>
          <p:grpSpPr>
            <a:xfrm rot="0">
              <a:off x="16236059" y="0"/>
              <a:ext cx="4578777" cy="971435"/>
              <a:chOff x="0" y="0"/>
              <a:chExt cx="827454" cy="175503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27454" cy="175503"/>
              </a:xfrm>
              <a:custGeom>
                <a:avLst/>
                <a:gdLst/>
                <a:ahLst/>
                <a:cxnLst/>
                <a:rect r="r" b="b" t="t" l="l"/>
                <a:pathLst>
                  <a:path h="175503" w="827454">
                    <a:moveTo>
                      <a:pt x="827454" y="45089"/>
                    </a:moveTo>
                    <a:lnTo>
                      <a:pt x="827454" y="130414"/>
                    </a:lnTo>
                    <a:cubicBezTo>
                      <a:pt x="827454" y="155316"/>
                      <a:pt x="807267" y="175503"/>
                      <a:pt x="782365" y="175503"/>
                    </a:cubicBezTo>
                    <a:lnTo>
                      <a:pt x="45089" y="175503"/>
                    </a:lnTo>
                    <a:cubicBezTo>
                      <a:pt x="33130" y="175503"/>
                      <a:pt x="21662" y="170752"/>
                      <a:pt x="13206" y="162296"/>
                    </a:cubicBezTo>
                    <a:cubicBezTo>
                      <a:pt x="4750" y="153841"/>
                      <a:pt x="0" y="142372"/>
                      <a:pt x="0" y="130414"/>
                    </a:cubicBezTo>
                    <a:lnTo>
                      <a:pt x="0" y="45089"/>
                    </a:lnTo>
                    <a:cubicBezTo>
                      <a:pt x="0" y="33130"/>
                      <a:pt x="4750" y="21662"/>
                      <a:pt x="13206" y="13206"/>
                    </a:cubicBezTo>
                    <a:cubicBezTo>
                      <a:pt x="21662" y="4750"/>
                      <a:pt x="33130" y="0"/>
                      <a:pt x="45089" y="0"/>
                    </a:cubicBezTo>
                    <a:lnTo>
                      <a:pt x="782365" y="0"/>
                    </a:lnTo>
                    <a:cubicBezTo>
                      <a:pt x="794324" y="0"/>
                      <a:pt x="805792" y="4750"/>
                      <a:pt x="814248" y="13206"/>
                    </a:cubicBezTo>
                    <a:cubicBezTo>
                      <a:pt x="822704" y="21662"/>
                      <a:pt x="827454" y="33130"/>
                      <a:pt x="827454" y="45089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827454" cy="2136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16573700" y="76355"/>
              <a:ext cx="3826730" cy="742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90"/>
                </a:lnSpc>
                <a:spcBef>
                  <a:spcPct val="0"/>
                </a:spcBef>
              </a:pPr>
              <a:r>
                <a:rPr lang="en-US" b="true" sz="3279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Precision@15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860785" y="9517457"/>
            <a:ext cx="1195705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13/16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 Rekomendasi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12723" y="1420843"/>
            <a:ext cx="7658001" cy="6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Eksperimen Model Sistem Rekomendasi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134475" y="150497"/>
            <a:ext cx="3830986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128503" y="6199345"/>
            <a:ext cx="8457486" cy="2429474"/>
            <a:chOff x="0" y="0"/>
            <a:chExt cx="2227486" cy="63967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27486" cy="639678"/>
            </a:xfrm>
            <a:custGeom>
              <a:avLst/>
              <a:gdLst/>
              <a:ahLst/>
              <a:cxnLst/>
              <a:rect r="r" b="b" t="t" l="l"/>
              <a:pathLst>
                <a:path h="639678" w="2227486">
                  <a:moveTo>
                    <a:pt x="2227486" y="13731"/>
                  </a:moveTo>
                  <a:lnTo>
                    <a:pt x="2227486" y="625947"/>
                  </a:lnTo>
                  <a:cubicBezTo>
                    <a:pt x="2227486" y="629589"/>
                    <a:pt x="2226039" y="633081"/>
                    <a:pt x="2223464" y="635657"/>
                  </a:cubicBezTo>
                  <a:cubicBezTo>
                    <a:pt x="2220889" y="638232"/>
                    <a:pt x="2217397" y="639678"/>
                    <a:pt x="2213755" y="639678"/>
                  </a:cubicBezTo>
                  <a:lnTo>
                    <a:pt x="13731" y="639678"/>
                  </a:lnTo>
                  <a:cubicBezTo>
                    <a:pt x="10089" y="639678"/>
                    <a:pt x="6597" y="638232"/>
                    <a:pt x="4022" y="635657"/>
                  </a:cubicBezTo>
                  <a:cubicBezTo>
                    <a:pt x="1447" y="633081"/>
                    <a:pt x="0" y="629589"/>
                    <a:pt x="0" y="625947"/>
                  </a:cubicBezTo>
                  <a:lnTo>
                    <a:pt x="0" y="13731"/>
                  </a:lnTo>
                  <a:cubicBezTo>
                    <a:pt x="0" y="10089"/>
                    <a:pt x="1447" y="6597"/>
                    <a:pt x="4022" y="4022"/>
                  </a:cubicBezTo>
                  <a:cubicBezTo>
                    <a:pt x="6597" y="1447"/>
                    <a:pt x="10089" y="0"/>
                    <a:pt x="13731" y="0"/>
                  </a:cubicBezTo>
                  <a:lnTo>
                    <a:pt x="2213755" y="0"/>
                  </a:lnTo>
                  <a:cubicBezTo>
                    <a:pt x="2217397" y="0"/>
                    <a:pt x="2220889" y="1447"/>
                    <a:pt x="2223464" y="4022"/>
                  </a:cubicBezTo>
                  <a:cubicBezTo>
                    <a:pt x="2226039" y="6597"/>
                    <a:pt x="2227486" y="10089"/>
                    <a:pt x="2227486" y="13731"/>
                  </a:cubicBezTo>
                  <a:close/>
                </a:path>
              </a:pathLst>
            </a:custGeom>
            <a:solidFill>
              <a:srgbClr val="FFFFFE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227486" cy="677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67112" y="6403362"/>
            <a:ext cx="8167146" cy="197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99"/>
              </a:lnSpc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Eksperimen ini membuktikan bahwa </a:t>
            </a: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pendekatan berbasis pemah</a:t>
            </a: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aman makna (</a:t>
            </a: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BERT) jauh lebih superior daripada pencocokan kata kunci (TF-IDF). Dengan meningkatkan presisi rekomendasi secara drastis </a:t>
            </a: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dari ~75% menjadi lebih dari 99%</a:t>
            </a: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model BERT terbukti menjadi solusi yang jauh lebih efektif dan relevan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0869872" y="6204976"/>
            <a:ext cx="5544918" cy="2423843"/>
            <a:chOff x="0" y="0"/>
            <a:chExt cx="1336067" cy="58386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36067" cy="583866"/>
            </a:xfrm>
            <a:custGeom>
              <a:avLst/>
              <a:gdLst/>
              <a:ahLst/>
              <a:cxnLst/>
              <a:rect r="r" b="b" t="t" l="l"/>
              <a:pathLst>
                <a:path h="583866" w="1336067">
                  <a:moveTo>
                    <a:pt x="1336067" y="20943"/>
                  </a:moveTo>
                  <a:lnTo>
                    <a:pt x="1336067" y="562923"/>
                  </a:lnTo>
                  <a:cubicBezTo>
                    <a:pt x="1336067" y="574489"/>
                    <a:pt x="1326691" y="583866"/>
                    <a:pt x="1315124" y="583866"/>
                  </a:cubicBezTo>
                  <a:lnTo>
                    <a:pt x="20943" y="583866"/>
                  </a:lnTo>
                  <a:cubicBezTo>
                    <a:pt x="9377" y="583866"/>
                    <a:pt x="0" y="574489"/>
                    <a:pt x="0" y="562923"/>
                  </a:cubicBezTo>
                  <a:lnTo>
                    <a:pt x="0" y="20943"/>
                  </a:lnTo>
                  <a:cubicBezTo>
                    <a:pt x="0" y="9377"/>
                    <a:pt x="9377" y="0"/>
                    <a:pt x="20943" y="0"/>
                  </a:cubicBezTo>
                  <a:lnTo>
                    <a:pt x="1315124" y="0"/>
                  </a:lnTo>
                  <a:cubicBezTo>
                    <a:pt x="1326691" y="0"/>
                    <a:pt x="1336067" y="9377"/>
                    <a:pt x="1336067" y="20943"/>
                  </a:cubicBezTo>
                  <a:close/>
                </a:path>
              </a:pathLst>
            </a:custGeom>
            <a:solidFill>
              <a:srgbClr val="FFE7C2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336067" cy="621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240984" y="6569264"/>
            <a:ext cx="4809723" cy="728576"/>
            <a:chOff x="0" y="0"/>
            <a:chExt cx="1158919" cy="17550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58919" cy="175503"/>
            </a:xfrm>
            <a:custGeom>
              <a:avLst/>
              <a:gdLst/>
              <a:ahLst/>
              <a:cxnLst/>
              <a:rect r="r" b="b" t="t" l="l"/>
              <a:pathLst>
                <a:path h="175503" w="1158919">
                  <a:moveTo>
                    <a:pt x="1158919" y="24145"/>
                  </a:moveTo>
                  <a:lnTo>
                    <a:pt x="1158919" y="151358"/>
                  </a:lnTo>
                  <a:cubicBezTo>
                    <a:pt x="1158919" y="157762"/>
                    <a:pt x="1156376" y="163903"/>
                    <a:pt x="1151848" y="168431"/>
                  </a:cubicBezTo>
                  <a:cubicBezTo>
                    <a:pt x="1147320" y="172959"/>
                    <a:pt x="1141178" y="175503"/>
                    <a:pt x="1134775" y="175503"/>
                  </a:cubicBezTo>
                  <a:lnTo>
                    <a:pt x="24145" y="175503"/>
                  </a:lnTo>
                  <a:cubicBezTo>
                    <a:pt x="17741" y="175503"/>
                    <a:pt x="11600" y="172959"/>
                    <a:pt x="7072" y="168431"/>
                  </a:cubicBezTo>
                  <a:cubicBezTo>
                    <a:pt x="2544" y="163903"/>
                    <a:pt x="0" y="157762"/>
                    <a:pt x="0" y="151358"/>
                  </a:cubicBezTo>
                  <a:lnTo>
                    <a:pt x="0" y="24145"/>
                  </a:lnTo>
                  <a:cubicBezTo>
                    <a:pt x="0" y="17741"/>
                    <a:pt x="2544" y="11600"/>
                    <a:pt x="7072" y="7072"/>
                  </a:cubicBezTo>
                  <a:cubicBezTo>
                    <a:pt x="11600" y="2544"/>
                    <a:pt x="17741" y="0"/>
                    <a:pt x="24145" y="0"/>
                  </a:cubicBezTo>
                  <a:lnTo>
                    <a:pt x="1134775" y="0"/>
                  </a:lnTo>
                  <a:cubicBezTo>
                    <a:pt x="1141178" y="0"/>
                    <a:pt x="1147320" y="2544"/>
                    <a:pt x="1151848" y="7072"/>
                  </a:cubicBezTo>
                  <a:cubicBezTo>
                    <a:pt x="1156376" y="11600"/>
                    <a:pt x="1158919" y="17741"/>
                    <a:pt x="1158919" y="24145"/>
                  </a:cubicBezTo>
                  <a:close/>
                </a:path>
              </a:pathLst>
            </a:custGeom>
            <a:solidFill>
              <a:srgbClr val="6A7191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158919" cy="213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1383999" y="6607480"/>
            <a:ext cx="4495540" cy="57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0"/>
              </a:lnSpc>
              <a:spcBef>
                <a:spcPct val="0"/>
              </a:spcBef>
            </a:pPr>
            <a:r>
              <a:rPr lang="en-US" b="true" sz="327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MODEL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1226908" y="7414082"/>
            <a:ext cx="4809723" cy="714241"/>
            <a:chOff x="0" y="0"/>
            <a:chExt cx="1158919" cy="1720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58919" cy="172050"/>
            </a:xfrm>
            <a:custGeom>
              <a:avLst/>
              <a:gdLst/>
              <a:ahLst/>
              <a:cxnLst/>
              <a:rect r="r" b="b" t="t" l="l"/>
              <a:pathLst>
                <a:path h="172050" w="1158919">
                  <a:moveTo>
                    <a:pt x="1158919" y="24145"/>
                  </a:moveTo>
                  <a:lnTo>
                    <a:pt x="1158919" y="147905"/>
                  </a:lnTo>
                  <a:cubicBezTo>
                    <a:pt x="1158919" y="154309"/>
                    <a:pt x="1156376" y="160450"/>
                    <a:pt x="1151848" y="164978"/>
                  </a:cubicBezTo>
                  <a:cubicBezTo>
                    <a:pt x="1147320" y="169506"/>
                    <a:pt x="1141178" y="172050"/>
                    <a:pt x="1134775" y="172050"/>
                  </a:cubicBezTo>
                  <a:lnTo>
                    <a:pt x="24145" y="172050"/>
                  </a:lnTo>
                  <a:cubicBezTo>
                    <a:pt x="17741" y="172050"/>
                    <a:pt x="11600" y="169506"/>
                    <a:pt x="7072" y="164978"/>
                  </a:cubicBezTo>
                  <a:cubicBezTo>
                    <a:pt x="2544" y="160450"/>
                    <a:pt x="0" y="154309"/>
                    <a:pt x="0" y="147905"/>
                  </a:cubicBezTo>
                  <a:lnTo>
                    <a:pt x="0" y="24145"/>
                  </a:lnTo>
                  <a:cubicBezTo>
                    <a:pt x="0" y="17741"/>
                    <a:pt x="2544" y="11600"/>
                    <a:pt x="7072" y="7072"/>
                  </a:cubicBezTo>
                  <a:cubicBezTo>
                    <a:pt x="11600" y="2544"/>
                    <a:pt x="17741" y="0"/>
                    <a:pt x="24145" y="0"/>
                  </a:cubicBezTo>
                  <a:lnTo>
                    <a:pt x="1134775" y="0"/>
                  </a:lnTo>
                  <a:cubicBezTo>
                    <a:pt x="1141178" y="0"/>
                    <a:pt x="1147320" y="2544"/>
                    <a:pt x="1151848" y="7072"/>
                  </a:cubicBezTo>
                  <a:cubicBezTo>
                    <a:pt x="1156376" y="11600"/>
                    <a:pt x="1158919" y="17741"/>
                    <a:pt x="1158919" y="24145"/>
                  </a:cubicBezTo>
                  <a:close/>
                </a:path>
              </a:pathLst>
            </a:custGeom>
            <a:solidFill>
              <a:srgbClr val="C2F6FF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158919" cy="21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1369923" y="7493814"/>
            <a:ext cx="4543659" cy="48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  <a:spcBef>
                <a:spcPct val="0"/>
              </a:spcBef>
            </a:pP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BERT 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+ 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Cos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</a:t>
            </a:r>
            <a:r>
              <a:rPr lang="en-US" b="true" sz="27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50497"/>
            <a:ext cx="3854030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996050" y="9517457"/>
            <a:ext cx="106044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14/16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2723" y="1420843"/>
            <a:ext cx="3055376" cy="66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Demonstrasi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Demonstrasi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355040" y="2607174"/>
            <a:ext cx="7577920" cy="6276494"/>
          </a:xfrm>
          <a:custGeom>
            <a:avLst/>
            <a:gdLst/>
            <a:ahLst/>
            <a:cxnLst/>
            <a:rect r="r" b="b" t="t" l="l"/>
            <a:pathLst>
              <a:path h="6276494" w="7577920">
                <a:moveTo>
                  <a:pt x="0" y="0"/>
                </a:moveTo>
                <a:lnTo>
                  <a:pt x="7577920" y="0"/>
                </a:lnTo>
                <a:lnTo>
                  <a:pt x="7577920" y="6276495"/>
                </a:lnTo>
                <a:lnTo>
                  <a:pt x="0" y="627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50497"/>
            <a:ext cx="3854030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63016" y="2582612"/>
            <a:ext cx="13995375" cy="2505735"/>
            <a:chOff x="0" y="0"/>
            <a:chExt cx="18660500" cy="33409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152989"/>
              <a:ext cx="3111496" cy="3111496"/>
            </a:xfrm>
            <a:custGeom>
              <a:avLst/>
              <a:gdLst/>
              <a:ahLst/>
              <a:cxnLst/>
              <a:rect r="r" b="b" t="t" l="l"/>
              <a:pathLst>
                <a:path h="3111496" w="3111496">
                  <a:moveTo>
                    <a:pt x="0" y="0"/>
                  </a:moveTo>
                  <a:lnTo>
                    <a:pt x="3111496" y="0"/>
                  </a:lnTo>
                  <a:lnTo>
                    <a:pt x="3111496" y="3111497"/>
                  </a:lnTo>
                  <a:lnTo>
                    <a:pt x="0" y="311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7672584" y="76495"/>
              <a:ext cx="3264486" cy="326448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375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302" lIns="40302" bIns="40302" rIns="4030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8184828" y="557991"/>
              <a:ext cx="2148940" cy="2109869"/>
            </a:xfrm>
            <a:custGeom>
              <a:avLst/>
              <a:gdLst/>
              <a:ahLst/>
              <a:cxnLst/>
              <a:rect r="r" b="b" t="t" l="l"/>
              <a:pathLst>
                <a:path h="2109869" w="2148940">
                  <a:moveTo>
                    <a:pt x="0" y="0"/>
                  </a:moveTo>
                  <a:lnTo>
                    <a:pt x="2148940" y="0"/>
                  </a:lnTo>
                  <a:lnTo>
                    <a:pt x="2148940" y="2109869"/>
                  </a:lnTo>
                  <a:lnTo>
                    <a:pt x="0" y="210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7" id="27"/>
            <p:cNvGrpSpPr/>
            <p:nvPr/>
          </p:nvGrpSpPr>
          <p:grpSpPr>
            <a:xfrm rot="0">
              <a:off x="15396014" y="0"/>
              <a:ext cx="3264486" cy="3264486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3752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302" lIns="40302" bIns="40302" rIns="4030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16145254" y="803939"/>
              <a:ext cx="1711388" cy="1501743"/>
            </a:xfrm>
            <a:custGeom>
              <a:avLst/>
              <a:gdLst/>
              <a:ahLst/>
              <a:cxnLst/>
              <a:rect r="r" b="b" t="t" l="l"/>
              <a:pathLst>
                <a:path h="1501743" w="1711388">
                  <a:moveTo>
                    <a:pt x="0" y="0"/>
                  </a:moveTo>
                  <a:lnTo>
                    <a:pt x="1711389" y="0"/>
                  </a:lnTo>
                  <a:lnTo>
                    <a:pt x="1711389" y="1501743"/>
                  </a:lnTo>
                  <a:lnTo>
                    <a:pt x="0" y="1501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915050" y="9517457"/>
            <a:ext cx="114144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15/16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2723" y="1420843"/>
            <a:ext cx="3055376" cy="66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Kesimpulan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Deskripsi Dataset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6839" y="5297882"/>
            <a:ext cx="4154271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Popularitas film dipengaruhi oleh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jumlah genre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bahasa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dan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waktu rilis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namun tidak dipengaruhi oleh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panjang ringkasan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72249" y="5297882"/>
            <a:ext cx="5564536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Terbangun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pipeline rekomendasi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yang robust, efisien, dan mampu mengenali kesesuaian konten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mayoritas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maupun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minoritas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dengan memanfaatkan model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BERT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Cosine Similarity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67924" y="5297882"/>
            <a:ext cx="528997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Tersediakan landasan berbasis data yang dapat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dimanfaatkan konsumen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dan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platform perfilman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untuk menghasilkan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rekomendasi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yang lebih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relevan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adaptif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5652" y="145935"/>
            <a:ext cx="2256645" cy="57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3287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Pendahuluan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9147" y="150497"/>
            <a:ext cx="2018003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50497"/>
            <a:ext cx="3854030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>
                    <a:alpha val="4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Hasil dan Pembahasan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6964" y="145935"/>
            <a:ext cx="2027827" cy="5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Kesimpulan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5271" y="1453950"/>
            <a:ext cx="108845" cy="636994"/>
            <a:chOff x="0" y="0"/>
            <a:chExt cx="28667" cy="1677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667" cy="167768"/>
            </a:xfrm>
            <a:custGeom>
              <a:avLst/>
              <a:gdLst/>
              <a:ahLst/>
              <a:cxnLst/>
              <a:rect r="r" b="b" t="t" l="l"/>
              <a:pathLst>
                <a:path h="167768" w="28667">
                  <a:moveTo>
                    <a:pt x="0" y="0"/>
                  </a:moveTo>
                  <a:lnTo>
                    <a:pt x="28667" y="0"/>
                  </a:lnTo>
                  <a:lnTo>
                    <a:pt x="28667" y="167768"/>
                  </a:lnTo>
                  <a:lnTo>
                    <a:pt x="0" y="167768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667" cy="20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4271" y="9517457"/>
            <a:ext cx="485775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Competition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955550" y="9517457"/>
            <a:ext cx="1100940" cy="6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3"/>
              </a:lnSpc>
              <a:spcBef>
                <a:spcPct val="0"/>
              </a:spcBef>
            </a:pPr>
            <a:r>
              <a:rPr lang="en-US" sz="35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16/16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2723" y="1420843"/>
            <a:ext cx="3055376" cy="66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3"/>
              </a:lnSpc>
              <a:spcBef>
                <a:spcPct val="0"/>
              </a:spcBef>
            </a:pPr>
            <a:r>
              <a:rPr lang="en-US" b="true" sz="3466">
                <a:solidFill>
                  <a:srgbClr val="04375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Keberlanjutan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69312" y="9551066"/>
            <a:ext cx="4549377" cy="5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Keberlanjutan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3419" y="5297882"/>
            <a:ext cx="5079453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Mengintegrasikan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data berbasis user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rti riw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tonton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n, rating, d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eferens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eksp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lis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untuk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meningkatkan akurasi rekomendasi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 konte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40225" y="5297882"/>
            <a:ext cx="5564536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Mengembangkan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pipeline multimodal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ngan memanfaatkan data visual dan audio d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ari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iler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film, dipadukan dengan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interaksi pengguna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untuk memperkaya repre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nt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kon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67924" y="5297882"/>
            <a:ext cx="528997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Menerapkan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metode evaluasi berbasis pengalaman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gg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sec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lan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gsung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guna memastikan sistem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rekomendasi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lebih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responsif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terhadap </a:t>
            </a: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preferensi 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ny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konsumen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896120" y="2630458"/>
            <a:ext cx="14052746" cy="2448364"/>
            <a:chOff x="0" y="0"/>
            <a:chExt cx="18736995" cy="326448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7761779" y="0"/>
              <a:ext cx="3264486" cy="326448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302" lIns="40302" bIns="40302" rIns="4030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0"/>
              <a:ext cx="3264486" cy="326448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810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40302" lIns="40302" bIns="40302" rIns="4030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905799" y="930227"/>
              <a:ext cx="1452888" cy="1452888"/>
            </a:xfrm>
            <a:custGeom>
              <a:avLst/>
              <a:gdLst/>
              <a:ahLst/>
              <a:cxnLst/>
              <a:rect r="r" b="b" t="t" l="l"/>
              <a:pathLst>
                <a:path h="1452888" w="1452888">
                  <a:moveTo>
                    <a:pt x="0" y="0"/>
                  </a:moveTo>
                  <a:lnTo>
                    <a:pt x="1452888" y="0"/>
                  </a:lnTo>
                  <a:lnTo>
                    <a:pt x="1452888" y="1452888"/>
                  </a:lnTo>
                  <a:lnTo>
                    <a:pt x="0" y="1452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8466613" y="782505"/>
              <a:ext cx="1854818" cy="1699477"/>
            </a:xfrm>
            <a:custGeom>
              <a:avLst/>
              <a:gdLst/>
              <a:ahLst/>
              <a:cxnLst/>
              <a:rect r="r" b="b" t="t" l="l"/>
              <a:pathLst>
                <a:path h="1699477" w="1854818">
                  <a:moveTo>
                    <a:pt x="0" y="0"/>
                  </a:moveTo>
                  <a:lnTo>
                    <a:pt x="1854817" y="0"/>
                  </a:lnTo>
                  <a:lnTo>
                    <a:pt x="1854817" y="1699476"/>
                  </a:lnTo>
                  <a:lnTo>
                    <a:pt x="0" y="1699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5522065" y="0"/>
              <a:ext cx="3214930" cy="3214930"/>
            </a:xfrm>
            <a:custGeom>
              <a:avLst/>
              <a:gdLst/>
              <a:ahLst/>
              <a:cxnLst/>
              <a:rect r="r" b="b" t="t" l="l"/>
              <a:pathLst>
                <a:path h="3214930" w="3214930">
                  <a:moveTo>
                    <a:pt x="0" y="0"/>
                  </a:moveTo>
                  <a:lnTo>
                    <a:pt x="3214930" y="0"/>
                  </a:lnTo>
                  <a:lnTo>
                    <a:pt x="3214930" y="3214930"/>
                  </a:lnTo>
                  <a:lnTo>
                    <a:pt x="0" y="3214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420225"/>
            <a:ext cx="6066291" cy="1028700"/>
            <a:chOff x="0" y="0"/>
            <a:chExt cx="159770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1709" y="9420225"/>
            <a:ext cx="6066291" cy="1028700"/>
            <a:chOff x="0" y="0"/>
            <a:chExt cx="1597706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7706" cy="270933"/>
            </a:xfrm>
            <a:custGeom>
              <a:avLst/>
              <a:gdLst/>
              <a:ahLst/>
              <a:cxnLst/>
              <a:rect r="r" b="b" t="t" l="l"/>
              <a:pathLst>
                <a:path h="270933" w="1597706">
                  <a:moveTo>
                    <a:pt x="0" y="0"/>
                  </a:moveTo>
                  <a:lnTo>
                    <a:pt x="1597706" y="0"/>
                  </a:lnTo>
                  <a:lnTo>
                    <a:pt x="1597706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770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6291" y="9420225"/>
            <a:ext cx="6155417" cy="1028700"/>
            <a:chOff x="0" y="0"/>
            <a:chExt cx="1621180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1180" cy="270933"/>
            </a:xfrm>
            <a:custGeom>
              <a:avLst/>
              <a:gdLst/>
              <a:ahLst/>
              <a:cxnLst/>
              <a:rect r="r" b="b" t="t" l="l"/>
              <a:pathLst>
                <a:path h="270933" w="1621180">
                  <a:moveTo>
                    <a:pt x="0" y="0"/>
                  </a:moveTo>
                  <a:lnTo>
                    <a:pt x="1621180" y="0"/>
                  </a:lnTo>
                  <a:lnTo>
                    <a:pt x="162118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0810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211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-104449"/>
            <a:ext cx="18288000" cy="1028700"/>
            <a:chOff x="0" y="0"/>
            <a:chExt cx="4816593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4375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075370" y="3200638"/>
            <a:ext cx="8137260" cy="193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b="true" sz="11000">
                <a:solidFill>
                  <a:srgbClr val="F081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Terima</a:t>
            </a:r>
            <a:r>
              <a:rPr lang="en-US" b="true" sz="11000">
                <a:solidFill>
                  <a:srgbClr val="0D3D6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Kasih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74112" y="5357705"/>
            <a:ext cx="3371896" cy="517309"/>
            <a:chOff x="0" y="0"/>
            <a:chExt cx="4495861" cy="68974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740434" y="-85725"/>
              <a:ext cx="3755428" cy="775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8"/>
                </a:lnSpc>
                <a:spcBef>
                  <a:spcPct val="0"/>
                </a:spcBef>
              </a:pPr>
              <a:r>
                <a:rPr lang="en-US" sz="3427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 Heisenberg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115666"/>
              <a:ext cx="541481" cy="541481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1004" y="-24552"/>
              <a:ext cx="238303" cy="651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36"/>
                </a:lnSpc>
                <a:spcBef>
                  <a:spcPct val="0"/>
                </a:spcBef>
              </a:pPr>
              <a:r>
                <a:rPr lang="en-US" sz="295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DAG0L9bqW0A</dc:identifier>
  <dcterms:modified xsi:type="dcterms:W3CDTF">2011-08-01T06:04:30Z</dcterms:modified>
  <cp:revision>1</cp:revision>
  <dc:title>Final IFest</dc:title>
</cp:coreProperties>
</file>